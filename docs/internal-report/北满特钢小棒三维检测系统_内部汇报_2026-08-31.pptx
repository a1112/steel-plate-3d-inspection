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3a0f74d0d94002" /><Relationship Type="http://schemas.openxmlformats.org/officeDocument/2006/relationships/extended-properties" Target="/docProps/app.xml" Id="R6c9af11e52c749e0" /><Relationship Type="http://schemas.openxmlformats.org/officeDocument/2006/relationships/officeDocument" Target="/ppt/presentation.xml" Id="Rcf57405e53b04a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7a193b3d4c4d26"/>
  </p:sldMasterIdLst>
  <p:notesMasterIdLst>
    <p:notesMasterId xmlns:r="http://schemas.openxmlformats.org/officeDocument/2006/relationships" r:id="Rd15339299d2b4a2b"/>
  </p:notesMasterIdLst>
  <p:sldIdLst>
    <p:sldId xmlns:r="http://schemas.openxmlformats.org/officeDocument/2006/relationships" id="256" r:id="Re9f2980302b94608"/>
    <p:sldId xmlns:r="http://schemas.openxmlformats.org/officeDocument/2006/relationships" id="257" r:id="Rc714adbb54aa4995"/>
    <p:sldId xmlns:r="http://schemas.openxmlformats.org/officeDocument/2006/relationships" id="258" r:id="R034f1c9ddeeb4c18"/>
    <p:sldId xmlns:r="http://schemas.openxmlformats.org/officeDocument/2006/relationships" id="259" r:id="R91ef45c3b4a64d10"/>
    <p:sldId xmlns:r="http://schemas.openxmlformats.org/officeDocument/2006/relationships" id="260" r:id="R151daf9900df4e9f"/>
    <p:sldId xmlns:r="http://schemas.openxmlformats.org/officeDocument/2006/relationships" id="261" r:id="Re3a52fca76ff4596"/>
    <p:sldId xmlns:r="http://schemas.openxmlformats.org/officeDocument/2006/relationships" id="262" r:id="Re1adc64a9f0c43c5"/>
    <p:sldId xmlns:r="http://schemas.openxmlformats.org/officeDocument/2006/relationships" id="263" r:id="R22e71c9a8e054efe"/>
    <p:sldId xmlns:r="http://schemas.openxmlformats.org/officeDocument/2006/relationships" id="264" r:id="R6c5cd94f5a2242fe"/>
    <p:sldId xmlns:r="http://schemas.openxmlformats.org/officeDocument/2006/relationships" id="265" r:id="R30d166314fdd472b"/>
    <p:sldId xmlns:r="http://schemas.openxmlformats.org/officeDocument/2006/relationships" id="266" r:id="R9c95c1ddb93e496f"/>
    <p:sldId xmlns:r="http://schemas.openxmlformats.org/officeDocument/2006/relationships" id="267" r:id="Rfb69127fe5184eec"/>
    <p:sldId xmlns:r="http://schemas.openxmlformats.org/officeDocument/2006/relationships" id="268" r:id="Rfb28d4ff5d504ee3"/>
    <p:sldId xmlns:r="http://schemas.openxmlformats.org/officeDocument/2006/relationships" id="269" r:id="R494541a650984ab4"/>
    <p:sldId xmlns:r="http://schemas.openxmlformats.org/officeDocument/2006/relationships" id="270" r:id="R07d207cf624d43cd"/>
    <p:sldId xmlns:r="http://schemas.openxmlformats.org/officeDocument/2006/relationships" id="271" r:id="Rde470f7e1ff6433c"/>
    <p:sldId xmlns:r="http://schemas.openxmlformats.org/officeDocument/2006/relationships" id="272" r:id="R263216d6cb054ef8"/>
    <p:sldId xmlns:r="http://schemas.openxmlformats.org/officeDocument/2006/relationships" id="273" r:id="Ra4f4f2fdd0064740"/>
    <p:sldId xmlns:r="http://schemas.openxmlformats.org/officeDocument/2006/relationships" id="274" r:id="Re213d50018c64cc7"/>
    <p:sldId xmlns:r="http://schemas.openxmlformats.org/officeDocument/2006/relationships" id="275" r:id="R95c5e06cc3e24975"/>
    <p:sldId xmlns:r="http://schemas.openxmlformats.org/officeDocument/2006/relationships" id="276" r:id="R342f4a8f1d4542c5"/>
    <p:sldId xmlns:r="http://schemas.openxmlformats.org/officeDocument/2006/relationships" id="277" r:id="Ra78ce4f54e694a01"/>
    <p:sldId xmlns:r="http://schemas.openxmlformats.org/officeDocument/2006/relationships" id="278" r:id="R6ba004a9a8484877"/>
    <p:sldId xmlns:r="http://schemas.openxmlformats.org/officeDocument/2006/relationships" id="279" r:id="R6e1e19c12ab34d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e9a0e6865b4449" /><Relationship Type="http://schemas.openxmlformats.org/officeDocument/2006/relationships/slideMaster" Target="/ppt/slideMasters/slideMaster1.xml" Id="R8b7a193b3d4c4d26" /><Relationship Type="http://schemas.openxmlformats.org/officeDocument/2006/relationships/notesMaster" Target="/ppt/notesMasters/notesMaster1.xml" Id="Rd15339299d2b4a2b" /><Relationship Type="http://schemas.openxmlformats.org/officeDocument/2006/relationships/presProps" Target="/ppt/presProps.xml" Id="R4bb930e1ae4b4bd1" /><Relationship Type="http://schemas.openxmlformats.org/officeDocument/2006/relationships/tableStyles" Target="/ppt/tableStyles.xml" Id="Rbd39a33383924483" /><Relationship Type="http://schemas.openxmlformats.org/officeDocument/2006/relationships/slide" Target="/ppt/slides/slide1.xml" Id="Re9f2980302b94608" /><Relationship Type="http://schemas.openxmlformats.org/officeDocument/2006/relationships/slide" Target="/ppt/slides/slide2.xml" Id="Rc714adbb54aa4995" /><Relationship Type="http://schemas.openxmlformats.org/officeDocument/2006/relationships/slide" Target="/ppt/slides/slide3.xml" Id="R034f1c9ddeeb4c18" /><Relationship Type="http://schemas.openxmlformats.org/officeDocument/2006/relationships/slide" Target="/ppt/slides/slide4.xml" Id="R91ef45c3b4a64d10" /><Relationship Type="http://schemas.openxmlformats.org/officeDocument/2006/relationships/slide" Target="/ppt/slides/slide5.xml" Id="R151daf9900df4e9f" /><Relationship Type="http://schemas.openxmlformats.org/officeDocument/2006/relationships/slide" Target="/ppt/slides/slide6.xml" Id="Re3a52fca76ff4596" /><Relationship Type="http://schemas.openxmlformats.org/officeDocument/2006/relationships/slide" Target="/ppt/slides/slide7.xml" Id="Re1adc64a9f0c43c5" /><Relationship Type="http://schemas.openxmlformats.org/officeDocument/2006/relationships/slide" Target="/ppt/slides/slide8.xml" Id="R22e71c9a8e054efe" /><Relationship Type="http://schemas.openxmlformats.org/officeDocument/2006/relationships/slide" Target="/ppt/slides/slide9.xml" Id="R6c5cd94f5a2242fe" /><Relationship Type="http://schemas.openxmlformats.org/officeDocument/2006/relationships/slide" Target="/ppt/slides/slide10.xml" Id="R30d166314fdd472b" /><Relationship Type="http://schemas.openxmlformats.org/officeDocument/2006/relationships/slide" Target="/ppt/slides/slide11.xml" Id="R9c95c1ddb93e496f" /><Relationship Type="http://schemas.openxmlformats.org/officeDocument/2006/relationships/slide" Target="/ppt/slides/slide12.xml" Id="Rfb69127fe5184eec" /><Relationship Type="http://schemas.openxmlformats.org/officeDocument/2006/relationships/slide" Target="/ppt/slides/slide13.xml" Id="Rfb28d4ff5d504ee3" /><Relationship Type="http://schemas.openxmlformats.org/officeDocument/2006/relationships/slide" Target="/ppt/slides/slide14.xml" Id="R494541a650984ab4" /><Relationship Type="http://schemas.openxmlformats.org/officeDocument/2006/relationships/slide" Target="/ppt/slides/slide15.xml" Id="R07d207cf624d43cd" /><Relationship Type="http://schemas.openxmlformats.org/officeDocument/2006/relationships/slide" Target="/ppt/slides/slide16.xml" Id="Rde470f7e1ff6433c" /><Relationship Type="http://schemas.openxmlformats.org/officeDocument/2006/relationships/slide" Target="/ppt/slides/slide17.xml" Id="R263216d6cb054ef8" /><Relationship Type="http://schemas.openxmlformats.org/officeDocument/2006/relationships/slide" Target="/ppt/slides/slide18.xml" Id="Ra4f4f2fdd0064740" /><Relationship Type="http://schemas.openxmlformats.org/officeDocument/2006/relationships/slide" Target="/ppt/slides/slide19.xml" Id="Re213d50018c64cc7" /><Relationship Type="http://schemas.openxmlformats.org/officeDocument/2006/relationships/slide" Target="/ppt/slides/slide20.xml" Id="R95c5e06cc3e24975" /><Relationship Type="http://schemas.openxmlformats.org/officeDocument/2006/relationships/slide" Target="/ppt/slides/slide21.xml" Id="R342f4a8f1d4542c5" /><Relationship Type="http://schemas.openxmlformats.org/officeDocument/2006/relationships/slide" Target="/ppt/slides/slide22.xml" Id="Ra78ce4f54e694a01" /><Relationship Type="http://schemas.openxmlformats.org/officeDocument/2006/relationships/slide" Target="/ppt/slides/slide23.xml" Id="R6ba004a9a8484877" /><Relationship Type="http://schemas.openxmlformats.org/officeDocument/2006/relationships/slide" Target="/ppt/slides/slide24.xml" Id="R6e1e19c12ab34d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cdcabd23ef4c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129ecc88b48a7" /><Relationship Type="http://schemas.openxmlformats.org/officeDocument/2006/relationships/notesMaster" Target="/ppt/notesMasters/notesMaster1.xml" Id="R1344e3ce809c41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4748f81a9040ab" /><Relationship Type="http://schemas.openxmlformats.org/officeDocument/2006/relationships/notesMaster" Target="/ppt/notesMasters/notesMaster1.xml" Id="Rb2b1bde9452b44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19a0dfde904d08" /><Relationship Type="http://schemas.openxmlformats.org/officeDocument/2006/relationships/notesMaster" Target="/ppt/notesMasters/notesMaster1.xml" Id="Rdf2683647c2a43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8971aa55074a49" /><Relationship Type="http://schemas.openxmlformats.org/officeDocument/2006/relationships/notesMaster" Target="/ppt/notesMasters/notesMaster1.xml" Id="R314af43248ac4a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9151933d674052" /><Relationship Type="http://schemas.openxmlformats.org/officeDocument/2006/relationships/notesMaster" Target="/ppt/notesMasters/notesMaster1.xml" Id="Re9f4dcd7cc324f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00d0e290f94d90" /><Relationship Type="http://schemas.openxmlformats.org/officeDocument/2006/relationships/notesMaster" Target="/ppt/notesMasters/notesMaster1.xml" Id="Rb437d67098ae4b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35f2b6e47643cc" /><Relationship Type="http://schemas.openxmlformats.org/officeDocument/2006/relationships/notesMaster" Target="/ppt/notesMasters/notesMaster1.xml" Id="R1a53c5e302df4a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227051a4704eb5" /><Relationship Type="http://schemas.openxmlformats.org/officeDocument/2006/relationships/notesMaster" Target="/ppt/notesMasters/notesMaster1.xml" Id="R3cedfb3604ff44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7492731fd74c0d" /><Relationship Type="http://schemas.openxmlformats.org/officeDocument/2006/relationships/notesMaster" Target="/ppt/notesMasters/notesMaster1.xml" Id="R2e329001dc6748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6f58dc343e4d88" /><Relationship Type="http://schemas.openxmlformats.org/officeDocument/2006/relationships/notesMaster" Target="/ppt/notesMasters/notesMaster1.xml" Id="R7a7b307966164b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0e431a5bba43c9" /><Relationship Type="http://schemas.openxmlformats.org/officeDocument/2006/relationships/notesMaster" Target="/ppt/notesMasters/notesMaster1.xml" Id="R487c3ca11c2148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bf9591e7734193" /><Relationship Type="http://schemas.openxmlformats.org/officeDocument/2006/relationships/notesMaster" Target="/ppt/notesMasters/notesMaster1.xml" Id="R76ea03094a314f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ed27985f364282" /><Relationship Type="http://schemas.openxmlformats.org/officeDocument/2006/relationships/notesMaster" Target="/ppt/notesMasters/notesMaster1.xml" Id="R165e0c2ef89347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c29521d8a74ed1" /><Relationship Type="http://schemas.openxmlformats.org/officeDocument/2006/relationships/notesMaster" Target="/ppt/notesMasters/notesMaster1.xml" Id="R6eb7beebf8fb4b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a4b13b3ee5441c" /><Relationship Type="http://schemas.openxmlformats.org/officeDocument/2006/relationships/notesMaster" Target="/ppt/notesMasters/notesMaster1.xml" Id="R2c2551e598a64e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12383c01a447a7" /><Relationship Type="http://schemas.openxmlformats.org/officeDocument/2006/relationships/notesMaster" Target="/ppt/notesMasters/notesMaster1.xml" Id="R347ba4ee0af54c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d56fb8cd344837" /><Relationship Type="http://schemas.openxmlformats.org/officeDocument/2006/relationships/notesMaster" Target="/ppt/notesMasters/notesMaster1.xml" Id="R28cd375e9a0f41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f0e13b3d7648be" /><Relationship Type="http://schemas.openxmlformats.org/officeDocument/2006/relationships/notesMaster" Target="/ppt/notesMasters/notesMaster1.xml" Id="R4ece509123934e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1f4cdbe8a7a4a94" /><Relationship Type="http://schemas.openxmlformats.org/officeDocument/2006/relationships/notesMaster" Target="/ppt/notesMasters/notesMaster1.xml" Id="Rf0e008fec6e24d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1c5ab0ebe21485e" /><Relationship Type="http://schemas.openxmlformats.org/officeDocument/2006/relationships/notesMaster" Target="/ppt/notesMasters/notesMaster1.xml" Id="R56235e1e9a0b4e1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dfc20da6c64879" /><Relationship Type="http://schemas.openxmlformats.org/officeDocument/2006/relationships/notesMaster" Target="/ppt/notesMasters/notesMaster1.xml" Id="R12d19ca3f51b45b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8de90d5acd042ee" /><Relationship Type="http://schemas.openxmlformats.org/officeDocument/2006/relationships/notesMaster" Target="/ppt/notesMasters/notesMaster1.xml" Id="Rad03b0ebbd5d4d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5c3786fd36e47c0" /><Relationship Type="http://schemas.openxmlformats.org/officeDocument/2006/relationships/notesMaster" Target="/ppt/notesMasters/notesMaster1.xml" Id="R6e23e60b98e045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d15b937275946ac" /><Relationship Type="http://schemas.openxmlformats.org/officeDocument/2006/relationships/notesMaster" Target="/ppt/notesMasters/notesMaster1.xml" Id="Rff21297c15e54f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开场先讲结论：这是一套工程化程度较高、但尚未完成真实生产验收的六相机检测平台。下文所有状态均严格区分代码能力、模拟验证与现场证据。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config/project.json</a:t>
            </a:r>
          </a:p>
          <a:p xmlns:a="http://schemas.openxmlformats.org/drawingml/2006/main">
            <a:r>
              <a:t>- config/sites/sick-array-6/site.json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No-Go 是生产发布结论，不是停止研发。现阶段适合内部演示、联调和工程收敛。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status --short --branch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docs/comprehensive-core-function-audit-2026-08-30.md</a:t>
            </a:r>
          </a:p>
          <a:p xmlns:a="http://schemas.openxmlformats.org/drawingml/2006/main">
            <a:r>
              <a:t>- current verification run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这页用于把技术模块翻译成业务流程。每一步都应产生可重放、可核验的证据，而不是只在界面上显示一个结果。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app/service/src/production_tasks.rs</a:t>
            </a:r>
          </a:p>
          <a:p xmlns:a="http://schemas.openxmlformats.org/drawingml/2006/main">
            <a:r>
              <a:t>- app/result-contract/src/lib.rs</a:t>
            </a:r>
          </a:p>
          <a:p xmlns:a="http://schemas.openxmlformats.org/drawingml/2006/main">
            <a:r>
              <a:t>- scripts/sick_capture/events.py</a:t>
            </a:r>
          </a:p>
          <a:p xmlns:a="http://schemas.openxmlformats.org/drawingml/2006/main">
            <a:r>
              <a:t>- scripts/sick_flow_analysis_service.py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先划边界再讲模块：操作员受控操作经 Tauri 进入 Rust API；PLC/L2 事件经 Trigger Gateway 验签后进入 Rust；SICK 六相机只进入采集链。其余路径可复用界面和统一结果模型，但没有生产判定资格。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docs/runtime-boundaries-v2.md</a:t>
            </a:r>
          </a:p>
          <a:p xmlns:a="http://schemas.openxmlformats.org/drawingml/2006/main">
            <a:r>
              <a:t>- docs/split-runtime-pipeline.md</a:t>
            </a:r>
          </a:p>
          <a:p xmlns:a="http://schemas.openxmlformats.org/drawingml/2006/main">
            <a:r>
              <a:t>- docs/runtime-data-algorithm-architecture.md</a:t>
            </a:r>
          </a:p>
          <a:p xmlns:a="http://schemas.openxmlformats.org/drawingml/2006/main">
            <a:r>
              <a:t>- config/sites/sick-array-6/runtime.json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正式后台是一个 Supervisor 加六个子服务。steel-capture-service.exe 是 Rust host/wrapper，其受管 Python sidecar 才通过 Harvesters/GenTL 持有 SICK 设备句柄。桌面端、托盘和交互式监视器不属于生产数据处理链，不能成为第二个后台 owner。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docs/runtime-boundaries-v2.md</a:t>
            </a:r>
          </a:p>
          <a:p xmlns:a="http://schemas.openxmlformats.org/drawingml/2006/main">
            <a:r>
              <a:t>- docs/independent-architecture.md</a:t>
            </a:r>
          </a:p>
          <a:p xmlns:a="http://schemas.openxmlformats.org/drawingml/2006/main">
            <a:r>
              <a:t>- docs/release-deployment-and-operations.md</a:t>
            </a:r>
          </a:p>
          <a:p xmlns:a="http://schemas.openxmlformats.org/drawingml/2006/main">
            <a:r>
              <a:t>- config/service-registry.json</a:t>
            </a:r>
          </a:p>
          <a:p xmlns:a="http://schemas.openxmlformats.org/drawingml/2006/main">
            <a:r>
              <a:t>- app/camera-worker</a:t>
            </a:r>
          </a:p>
          <a:p xmlns:a="http://schemas.openxmlformats.org/drawingml/2006/main">
            <a:r>
              <a:t>- scripts/sick_capture_service.py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这页作为职责查错表使用。正式 SICK 链是 Rust wrapper 管理 Python GenTL sidecar；app/capture 的 C++ 采集实现属于 LVM/NVT 兼容路径，C++ Supervisor 只做 SCM 生命周期。出现前端直连采集、Worker 改业务状态等行为，意味着架构越界。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docs/runtime-boundaries-v2.md</a:t>
            </a:r>
          </a:p>
          <a:p xmlns:a="http://schemas.openxmlformats.org/drawingml/2006/main">
            <a:r>
              <a:t>- docs/split-runtime-pipeline.md</a:t>
            </a:r>
          </a:p>
          <a:p xmlns:a="http://schemas.openxmlformats.org/drawingml/2006/main">
            <a:r>
              <a:t>- docs/independent-architecture.md</a:t>
            </a:r>
          </a:p>
          <a:p xmlns:a="http://schemas.openxmlformats.org/drawingml/2006/main">
            <a:r>
              <a:t>- app/camera-worker</a:t>
            </a:r>
          </a:p>
          <a:p xmlns:a="http://schemas.openxmlformats.org/drawingml/2006/main">
            <a:r>
              <a:t>- scripts/sick_capture_service.py</a:t>
            </a:r>
          </a:p>
          <a:p xmlns:a="http://schemas.openxmlformats.org/drawingml/2006/main">
            <a:r>
              <a:t>- app/capture</a:t>
            </a:r>
          </a:p>
          <a:p xmlns:a="http://schemas.openxmlformats.org/drawingml/2006/main">
            <a:r>
              <a:t>- app/result-contract/src/lib.rs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PLC/L2 事件先经过 Trigger Gateway；Tauri 的受控操作直接进入 Rust API，浏览器不直连 4881。控制流只描述命令、状态和依赖，不携带大体量图像；生产动作先落入数据库任务账本，再按依赖 claim。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app/service/src/production_tasks.rs</a:t>
            </a:r>
          </a:p>
          <a:p xmlns:a="http://schemas.openxmlformats.org/drawingml/2006/main">
            <a:r>
              <a:t>- app/service/src/db/mod.rs</a:t>
            </a:r>
          </a:p>
          <a:p xmlns:a="http://schemas.openxmlformats.org/drawingml/2006/main">
            <a:r>
              <a:t>- docs/independent-architecture.md</a:t>
            </a:r>
          </a:p>
          <a:p xmlns:a="http://schemas.openxmlformats.org/drawingml/2006/main">
            <a:r>
              <a:t>- docs/production-readiness-gap-and-closure-design.md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数据流和控制流必须分开理解：图像等大数据走文件/结果合同，命令与状态走 Rust 任务账本。二者只通过稳定身份和版本化合同关联。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docs/runtime-boundaries-v2.md</a:t>
            </a:r>
          </a:p>
          <a:p xmlns:a="http://schemas.openxmlformats.org/drawingml/2006/main">
            <a:r>
              <a:t>- docs/split-runtime-pipeline.md</a:t>
            </a:r>
          </a:p>
          <a:p xmlns:a="http://schemas.openxmlformats.org/drawingml/2006/main">
            <a:r>
              <a:t>- app/runtime-contract/src/lib.rs</a:t>
            </a:r>
          </a:p>
          <a:p xmlns:a="http://schemas.openxmlformats.org/drawingml/2006/main">
            <a:r>
              <a:t>- app/result-contract/src/lib.rs</a:t>
            </a:r>
          </a:p>
          <a:p xmlns:a="http://schemas.openxmlformats.org/drawingml/2006/main">
            <a:r>
              <a:t>- scripts/sick_capture/storage.py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端口表是日常排障入口，但更重要的是所有权：4317 的 Rust wrapper 负责受管启动与监控，Python GenTL sidecar 独占相机句柄；Rust Business 只代理采集 API/健康并拥有最终业务状态。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docs/runtime-boundaries-v2.md</a:t>
            </a:r>
          </a:p>
          <a:p xmlns:a="http://schemas.openxmlformats.org/drawingml/2006/main">
            <a:r>
              <a:t>- docs/release-deployment-and-operations.md</a:t>
            </a:r>
          </a:p>
          <a:p xmlns:a="http://schemas.openxmlformats.org/drawingml/2006/main">
            <a:r>
              <a:t>- config/service-registry.json</a:t>
            </a:r>
          </a:p>
          <a:p xmlns:a="http://schemas.openxmlformats.org/drawingml/2006/main">
            <a:r>
              <a:t>- app/camera-worker</a:t>
            </a:r>
          </a:p>
          <a:p xmlns:a="http://schemas.openxmlformats.org/drawingml/2006/main">
            <a:r>
              <a:t>- scripts/sick_capture_service.py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四层隔离分别处理进程、采集事务、业务任务和持久化。恢复动作必须以可核验证据为起点，而不是先重启、后解释。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docs/independent-architecture.md</a:t>
            </a:r>
          </a:p>
          <a:p xmlns:a="http://schemas.openxmlformats.org/drawingml/2006/main">
            <a:r>
              <a:t>- docs/atomic-upgrade-and-database-migration-design.md</a:t>
            </a:r>
          </a:p>
          <a:p xmlns:a="http://schemas.openxmlformats.org/drawingml/2006/main">
            <a:r>
              <a:t>- docs/release-deployment-and-operations.md</a:t>
            </a:r>
          </a:p>
          <a:p xmlns:a="http://schemas.openxmlformats.org/drawingml/2006/main">
            <a:r>
              <a:t>- scripts/sick_capture/storage.py</a:t>
            </a:r>
          </a:p>
          <a:p xmlns:a="http://schemas.openxmlformats.org/drawingml/2006/main">
            <a:r>
              <a:t>- app/service/src/production_tasks.rs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 API 解决的是前端复用，不代表所有数据源具有同等生产资格。正式、模拟和历史兼容三条路径必须分别验收和表述。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config/project.json</a:t>
            </a:r>
          </a:p>
          <a:p xmlns:a="http://schemas.openxmlformats.org/drawingml/2006/main">
            <a:r>
              <a:t>- config/sites/sick-array-6/site.json</a:t>
            </a:r>
          </a:p>
          <a:p xmlns:a="http://schemas.openxmlformats.org/drawingml/2006/main">
            <a:r>
              <a:t>- config/sites/sick-array-6/runtime.json</a:t>
            </a:r>
          </a:p>
          <a:p xmlns:a="http://schemas.openxmlformats.org/drawingml/2006/main">
            <a:r>
              <a:t>- docs/runtime-boundaries-v2.md</a:t>
            </a:r>
          </a:p>
          <a:p xmlns:a="http://schemas.openxmlformats.org/drawingml/2006/main">
            <a:r>
              <a:t>- docs/runtime-data-algorithm-architecture.md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这里强调两层原子性：文件层原子替换，以及整轮元数据最后提交。只有两者都成立，后续算法才有可靠输入。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scripts/sick_capture/storage.py</a:t>
            </a:r>
          </a:p>
          <a:p xmlns:a="http://schemas.openxmlformats.org/drawingml/2006/main">
            <a:r>
              <a:t>- scripts/sick_capture/events.py</a:t>
            </a:r>
          </a:p>
          <a:p xmlns:a="http://schemas.openxmlformats.org/drawingml/2006/main">
            <a:r>
              <a:t>- scripts/sick_capture/provider.py</a:t>
            </a:r>
          </a:p>
          <a:p xmlns:a="http://schemas.openxmlformats.org/drawingml/2006/main">
            <a:r>
              <a:t>- config/sites/sick-array-6/capture.json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把门禁分成设备数据质量、几何标定质量和算法准入质量。任何一道不通过，都应显式失败而不是给出看似完整的数值。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config/sites/sick-array-6/algorithm.json</a:t>
            </a:r>
          </a:p>
          <a:p xmlns:a="http://schemas.openxmlformats.org/drawingml/2006/main">
            <a:r>
              <a:t>- scripts/sick_flow_analysis_service.py</a:t>
            </a:r>
          </a:p>
          <a:p xmlns:a="http://schemas.openxmlformats.org/drawingml/2006/main">
            <a:r>
              <a:t>- app/client/src/components/DiameterAnalysisPage.tsx</a:t>
            </a:r>
          </a:p>
          <a:p xmlns:a="http://schemas.openxmlformats.org/drawingml/2006/main">
            <a:r>
              <a:t>- docs/comprehensive-core-function-audit-2026-08-30.md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截图来自本机模拟服务。当前真实 10.50.111.141:4873 的 live 接口已可达，但 aggregate health=503、六相机 0/6；连接状态不能替代数据来源和生产就绪标识。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UI capture 2026-08-31, simulated backend</a:t>
            </a:r>
          </a:p>
          <a:p xmlns:a="http://schemas.openxmlformats.org/drawingml/2006/main">
            <a:r>
              <a:t>- app/client/src/App.tsx</a:t>
            </a:r>
          </a:p>
          <a:p xmlns:a="http://schemas.openxmlformats.org/drawingml/2006/main">
            <a:r>
              <a:t>- app/client/src/components/PlateMap.tsx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人工复核不是覆盖模型输出，而是形成新的、可审计的业务状态。正式验收需验证权限、并发冲突和归档一致性。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UI capture 2026-08-31, simulated backend</a:t>
            </a:r>
          </a:p>
          <a:p xmlns:a="http://schemas.openxmlformats.org/drawingml/2006/main">
            <a:r>
              <a:t>- app/client/src/App.tsx</a:t>
            </a:r>
          </a:p>
          <a:p xmlns:a="http://schemas.openxmlformats.org/drawingml/2006/main">
            <a:r>
              <a:t>- app/client/src/services/inspection-api.ts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演示时可用这页解释 fail-closed：界面存在不代表结果可签发。当前模拟记录缺少生产测径产物，因此页面明确待复核并禁用报告导出。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UI capture 2026-08-31, simulated backend</a:t>
            </a:r>
          </a:p>
          <a:p xmlns:a="http://schemas.openxmlformats.org/drawingml/2006/main">
            <a:r>
              <a:t>- app/client/src/components/DiameterAnalysisPage.tsx</a:t>
            </a:r>
          </a:p>
          <a:p xmlns:a="http://schemas.openxmlformats.org/drawingml/2006/main">
            <a:r>
              <a:t>- config/sites/sick-array-6/algorithm.json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报表页适合解释对外责任边界：只有签发者、数据完整性、版本身份和不可变归档全部成立，导出的文件才具备交付意义。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UI capture 2026-08-31, simulated backend</a:t>
            </a:r>
          </a:p>
          <a:p xmlns:a="http://schemas.openxmlformats.org/drawingml/2006/main">
            <a:r>
              <a:t>- app/client/src/App.tsx</a:t>
            </a:r>
          </a:p>
          <a:p xmlns:a="http://schemas.openxmlformats.org/drawingml/2006/main">
            <a:r>
              <a:t>- app/result-contract/src/lib.rs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报警要回答谁负责、何时处置；日志要回答链路停在哪一步、失败是否可重试。两者共同构成班次运行证据。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UI capture 2026-08-31, simulated backend</a:t>
            </a:r>
          </a:p>
          <a:p xmlns:a="http://schemas.openxmlformats.org/drawingml/2006/main">
            <a:r>
              <a:t>- app/client/src/App.tsx</a:t>
            </a:r>
          </a:p>
          <a:p xmlns:a="http://schemas.openxmlformats.org/drawingml/2006/main">
            <a:r>
              <a:t>- app/service/src/main.rs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数据合同不仅是字段定义，还要绑定生产者、消费者、提交时机、哈希、错误语义和恢复策略。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packages/contracts</a:t>
            </a:r>
          </a:p>
          <a:p xmlns:a="http://schemas.openxmlformats.org/drawingml/2006/main">
            <a:r>
              <a:t>- app/runtime-contract/src/lib.rs</a:t>
            </a:r>
          </a:p>
          <a:p xmlns:a="http://schemas.openxmlformats.org/drawingml/2006/main">
            <a:r>
              <a:t>- app/result-contract/src/lib.rs</a:t>
            </a:r>
          </a:p>
          <a:p xmlns:a="http://schemas.openxmlformats.org/drawingml/2006/main">
            <a:r>
              <a:t>- app/service/src/db</a:t>
            </a:r>
          </a:p>
          <a:p xmlns:a="http://schemas.openxmlformats.org/drawingml/2006/main">
            <a:r>
              <a:t>- docs/runtime-data-algorithm-architecture.md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测试数字只能在对应平台和边界内解释。本机通过不等于 Windows 全绿，Windows 全绿也不等于六相机现场验收。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npm test and npm run build, app/client, 2026-08-31</a:t>
            </a:r>
          </a:p>
          <a:p xmlns:a="http://schemas.openxmlformats.org/drawingml/2006/main">
            <a:r>
              <a:t>- cargo test evidence 2026-08-31</a:t>
            </a:r>
          </a:p>
          <a:p xmlns:a="http://schemas.openxmlformats.org/drawingml/2006/main">
            <a:r>
              <a:t>- scripts/test-database-migration-contract.ps1</a:t>
            </a:r>
          </a:p>
          <a:p xmlns:a="http://schemas.openxmlformats.org/drawingml/2006/main">
            <a:r>
              <a:t>- scripts/test-release-sbom.ps1</a:t>
            </a:r>
          </a:p>
          <a:p xmlns:a="http://schemas.openxmlformats.org/drawingml/2006/main">
            <a:r>
              <a:t>- GitHub Actions Windows run at HEAD 5b30605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当前可以访问真实业务服务的 live、health 和 discovery 接口，但它处于 not-ready：六相机未连接、标定恢复门禁未清除、生产策略无效且 Trigger 不可达，因此不能把该连接表述为真实检测数据或生产可用。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curl --noproxy health/live and aggregate health, 2026-08-31 14:08 Asia/Shanghai</a:t>
            </a:r>
          </a:p>
          <a:p xmlns:a="http://schemas.openxmlformats.org/drawingml/2006/main">
            <a:r>
              <a:t>- process environment of local steel-inspection-service</a:t>
            </a:r>
          </a:p>
          <a:p xmlns:a="http://schemas.openxmlformats.org/drawingml/2006/main">
            <a:r>
              <a:t>- app/client/src/services/inspection-api.ts</a:t>
            </a:r>
          </a:p>
          <a:p xmlns:a="http://schemas.openxmlformats.org/drawingml/2006/main">
            <a:r>
              <a:t>- docs/10.50.111.141-server-continuation.md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风险排序以生产影响为准。旧审计基线是 1e4ef85，当前已到 5b30605，因此审计项应作为回归清单，不直接宣称全部仍然存在或已关闭。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docs/comprehensive-core-function-audit-2026-08-30.md</a:t>
            </a:r>
          </a:p>
          <a:p xmlns:a="http://schemas.openxmlformats.org/drawingml/2006/main">
            <a:r>
              <a:t>- current CI and backend checks 2026-08-31</a:t>
            </a:r>
          </a:p>
          <a:p xmlns:a="http://schemas.openxmlformats.org/drawingml/2006/main">
            <a:r>
              <a:t>- config/sites/sick-array-6/capture.json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这条路线把风险分层。阶段 1 从已可达但 not-ready 的业务服务开始，只读保存健康、标定恢复、CTI 与六相机身份等证据，再安排受控写入型采集。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formal release gates</a:t>
            </a:r>
          </a:p>
          <a:p xmlns:a="http://schemas.openxmlformats.org/drawingml/2006/main">
            <a:r>
              <a:t>- docs/integrated-capture-management-acceptance.md</a:t>
            </a:r>
          </a:p>
          <a:p xmlns:a="http://schemas.openxmlformats.org/drawingml/2006/main">
            <a:r>
              <a:t>- docs/release-deployment-and-operations.md</a:t>
            </a:r>
          </a:p>
          <a:p xmlns:a="http://schemas.openxmlformats.org/drawingml/2006/main">
            <a:r>
              <a:t>- docs/10.50.111.141-server-continuation.md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结束时只请求三项决策：工程封口、现场窗口、责任矩阵。不要把会议变成功能讨论。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docs/comprehensive-core-function-audit-2026-08-30.md</a:t>
            </a:r>
          </a:p>
          <a:p xmlns:a="http://schemas.openxmlformats.org/drawingml/2006/main">
            <a:r>
              <a:t>- current verification and backend checks 2026-08-31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8c269fc9648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67a073fe984abd" /><Relationship Type="http://schemas.openxmlformats.org/officeDocument/2006/relationships/slideLayout" Target="/ppt/slideLayouts/slideLayout1.xml" Id="R55672512632e4c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672512632e4c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87330c2704a5d" /><Relationship Type="http://schemas.openxmlformats.org/officeDocument/2006/relationships/image" Target="/ppt/media/image.png" Id="R68c30ad8471e47f0" /><Relationship Type="http://schemas.openxmlformats.org/officeDocument/2006/relationships/image" Target="/ppt/media/image2.png" Id="Rdafd7d341ad3489c" /><Relationship Type="http://schemas.openxmlformats.org/officeDocument/2006/relationships/notesSlide" Target="/ppt/notesSlides/notesSlide1.xml" Id="R405d040942da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ac7bbcd5d49c4" /><Relationship Type="http://schemas.openxmlformats.org/officeDocument/2006/relationships/notesSlide" Target="/ppt/notesSlides/notesSlide2.xml" Id="R693c99c7545d42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d316d99be484b" /><Relationship Type="http://schemas.openxmlformats.org/officeDocument/2006/relationships/notesSlide" Target="/ppt/notesSlides/notesSlide3.xml" Id="R8541dec2c00745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bdd63889b4269" /><Relationship Type="http://schemas.openxmlformats.org/officeDocument/2006/relationships/notesSlide" Target="/ppt/notesSlides/notesSlide4.xml" Id="Rbaaac13e616342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d93ef69fa4b6a" /><Relationship Type="http://schemas.openxmlformats.org/officeDocument/2006/relationships/notesSlide" Target="/ppt/notesSlides/notesSlide5.xml" Id="R9f6901aabc984b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52c6626cf4a8e" /><Relationship Type="http://schemas.openxmlformats.org/officeDocument/2006/relationships/notesSlide" Target="/ppt/notesSlides/notesSlide6.xml" Id="R4c24aa4af7ee42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fc297017240e9" /><Relationship Type="http://schemas.openxmlformats.org/officeDocument/2006/relationships/notesSlide" Target="/ppt/notesSlides/notesSlide7.xml" Id="R5b087c7524c04f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d7b4f4c51482d" /><Relationship Type="http://schemas.openxmlformats.org/officeDocument/2006/relationships/notesSlide" Target="/ppt/notesSlides/notesSlide8.xml" Id="R0994a38cdae344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4550f116c4be3" /><Relationship Type="http://schemas.openxmlformats.org/officeDocument/2006/relationships/notesSlide" Target="/ppt/notesSlides/notesSlide9.xml" Id="Rc9734fb286eb4f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7edd740fc4165" /><Relationship Type="http://schemas.openxmlformats.org/officeDocument/2006/relationships/notesSlide" Target="/ppt/notesSlides/notesSlide10.xml" Id="R71b44d385de84b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f91cc71b94b0f" /><Relationship Type="http://schemas.openxmlformats.org/officeDocument/2006/relationships/notesSlide" Target="/ppt/notesSlides/notesSlide11.xml" Id="Ra68d5691789946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80ae16ce249aa" /><Relationship Type="http://schemas.openxmlformats.org/officeDocument/2006/relationships/image" Target="/ppt/media/image3.png" Id="R18c1112745484e18" /><Relationship Type="http://schemas.openxmlformats.org/officeDocument/2006/relationships/notesSlide" Target="/ppt/notesSlides/notesSlide12.xml" Id="Rf598702dd4c74e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294bdf18041cb" /><Relationship Type="http://schemas.openxmlformats.org/officeDocument/2006/relationships/notesSlide" Target="/ppt/notesSlides/notesSlide13.xml" Id="Rdaa381c4d41e45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62652109c44c2" /><Relationship Type="http://schemas.openxmlformats.org/officeDocument/2006/relationships/image" Target="/ppt/media/image.jpeg" Id="R12e551d6a750492e" /><Relationship Type="http://schemas.openxmlformats.org/officeDocument/2006/relationships/notesSlide" Target="/ppt/notesSlides/notesSlide14.xml" Id="R24ebccc18d3a4c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ef3e5ec1b4485" /><Relationship Type="http://schemas.openxmlformats.org/officeDocument/2006/relationships/image" Target="/ppt/media/image2.jpeg" Id="Rdeb67d0e206c41b3" /><Relationship Type="http://schemas.openxmlformats.org/officeDocument/2006/relationships/notesSlide" Target="/ppt/notesSlides/notesSlide15.xml" Id="R7b81579c9aee43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a7b612cfc43a9" /><Relationship Type="http://schemas.openxmlformats.org/officeDocument/2006/relationships/image" Target="/ppt/media/image3.jpeg" Id="Rfa08a0072a8d411b" /><Relationship Type="http://schemas.openxmlformats.org/officeDocument/2006/relationships/notesSlide" Target="/ppt/notesSlides/notesSlide16.xml" Id="Ra4f6801d94df4a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02190ccba4f50" /><Relationship Type="http://schemas.openxmlformats.org/officeDocument/2006/relationships/image" Target="/ppt/media/image4.jpeg" Id="Red4308b6c4f54d05" /><Relationship Type="http://schemas.openxmlformats.org/officeDocument/2006/relationships/notesSlide" Target="/ppt/notesSlides/notesSlide17.xml" Id="R666edd5ca4674b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57520a11d4228" /><Relationship Type="http://schemas.openxmlformats.org/officeDocument/2006/relationships/image" Target="/ppt/media/image5.jpeg" Id="R9a966e85c21d49d4" /><Relationship Type="http://schemas.openxmlformats.org/officeDocument/2006/relationships/image" Target="/ppt/media/image6.jpeg" Id="R01671609a6b74bc6" /><Relationship Type="http://schemas.openxmlformats.org/officeDocument/2006/relationships/notesSlide" Target="/ppt/notesSlides/notesSlide18.xml" Id="Rb8583890ba1e46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0679f10b84995" /><Relationship Type="http://schemas.openxmlformats.org/officeDocument/2006/relationships/notesSlide" Target="/ppt/notesSlides/notesSlide19.xml" Id="R498ccf093bb748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58886f34840ad" /><Relationship Type="http://schemas.openxmlformats.org/officeDocument/2006/relationships/notesSlide" Target="/ppt/notesSlides/notesSlide20.xml" Id="Ra0b1bb48b1f3447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5ecc4037a4209" /><Relationship Type="http://schemas.openxmlformats.org/officeDocument/2006/relationships/notesSlide" Target="/ppt/notesSlides/notesSlide21.xml" Id="R92ecebdb9e524f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a19218f084dfb" /><Relationship Type="http://schemas.openxmlformats.org/officeDocument/2006/relationships/notesSlide" Target="/ppt/notesSlides/notesSlide22.xml" Id="R881af78e0be04d0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4d0a4b9444487" /><Relationship Type="http://schemas.openxmlformats.org/officeDocument/2006/relationships/notesSlide" Target="/ppt/notesSlides/notesSlide23.xml" Id="R7148aef74560423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b7ab6abda4ce7" /><Relationship Type="http://schemas.openxmlformats.org/officeDocument/2006/relationships/notesSlide" Target="/ppt/notesSlides/notesSlide24.xml" Id="Rf4968a1f379b42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30ad8471e47f0"/>
          <a:stretch xmlns:a="http://schemas.openxmlformats.org/drawingml/2006/main"/>
        </p:blipFill>
        <p:spPr>
          <a:xfrm xmlns:a="http://schemas.openxmlformats.org/drawingml/2006/main">
            <a:off x="609600" y="466875"/>
            <a:ext cx="2590800" cy="571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E1B55-715D-458C-A001-E83CACBB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257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16CE8-1933-488C-96FD-E8E1987A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内部项目汇报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40CD2-C4C9-4E63-A14B-FD283498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北满特钢小棒</a:t>
            </a:r>
          </a:p>
          <a:p xmlns:a="http://schemas.openxmlformats.org/drawingml/2006/main">
            <a:pPr algn="l">
              <a:defRPr sz="37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三维检测系统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F42D5-DD4A-438F-B28A-3441EFDF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从功能基线到正式生产：架构、使用、验证、风险与上线门禁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115D0-E48E-4682-9555-02D56B90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汇报基线  main / 5b30605  ·  2026-08-31  ·  Asia/Shanghai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B277A-E6AD-49EC-AF8D-9EE5223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保密级别：内部使用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FBDE7-49F9-4C2F-811A-474CE315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23950"/>
            <a:ext cx="3143250" cy="428625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d7d341ad3489c"/>
          <a:stretch xmlns:a="http://schemas.openxmlformats.org/drawingml/2006/main"/>
        </p:blipFill>
        <p:spPr>
          <a:xfrm xmlns:a="http://schemas.openxmlformats.org/drawingml/2006/main">
            <a:off x="8858250" y="16192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FEB2C-73DE-4928-AB6E-E99E7564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六相机采集</a:t>
            </a:r>
          </a:p>
          <a:p xmlns:a="http://schemas.openxmlformats.org/drawingml/2006/main">
            <a:pPr algn="ctr">
              <a:defRPr sz="16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三维重建</a:t>
            </a:r>
          </a:p>
          <a:p xmlns:a="http://schemas.openxmlformats.org/drawingml/2006/main">
            <a:pPr algn="ctr">
              <a:defRPr sz="16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缺陷检测</a:t>
            </a:r>
          </a:p>
          <a:p xmlns:a="http://schemas.openxmlformats.org/drawingml/2006/main">
            <a:pPr algn="ctr">
              <a:defRPr sz="16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测径与追溯</a:t>
            </a:r>
          </a:p>
        </p:txBody>
      </p:sp>
    </p:spTree>
    <p:extLst>
      <p:ext uri="{BB962C8B-B14F-4D97-AF65-F5344CB8AC3E}">
        <p14:creationId xmlns:p14="http://schemas.microsoft.com/office/powerpoint/2010/main" val="1844400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0733F9-92DF-4B95-ABC4-D05583FD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B31D5-E748-4698-A434-849653C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结论先行：可演示，不等于可投产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41988-D8AF-477A-A25F-717B7BBB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当前已具备完整产品与工程骨架；正式生产仍为 No-Go。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188E0-C0EA-4F22-8088-61C5BA4A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7322E-2995-43B8-A5C3-74130B39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工程可运行、可演示、可扩展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5CB8C-9D2E-44FA-B504-A3CE8F9B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正式生产 No-Go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8431F-8891-4051-8B4D-CB78671B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7F747-98BA-4CD5-96AA-A04ACBDD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六相机 SICK GenTL、Rust 业务服务、图像/缺陷 Worker、Tauri/React 主终端均已成形。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C270D-D684-41F9-9D42-59C15A40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D582B-D939-4E93-8EE7-F652E5F7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本机前端 578/578 测试与生产构建通过；数据库、SBOM、CSP 定向检查通过。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63731-F6B9-4927-B345-1C42BD15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7804E-D494-4F66-AFFB-294180E1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真实后端、六相机现场证据、Windows CI 全绿、算法准入与签名正式包尚未闭环。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04BB7-DEA6-4E7F-82BD-646C473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857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A996F-22DA-416B-AA4D-18D18623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代码基线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44513-2BDF-456B-82F1-1EC8466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main == origin/main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20039-4643-4B57-96A1-EDA7F55B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857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C0B11-5661-4B24-AC40-E43C70B8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本机软件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17AE4-60FA-4E92-BF01-392DAF4F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模拟链路已验证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D2F21-9DA6-4867-97C6-05661587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857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F050D-A391-4AB7-AE65-3A1116ED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481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真实后端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3B2A8-562F-4059-ACBB-45974FA6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live 200；aggregate health 503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97352-7D67-474D-A837-B0DFCB53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857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67E33-C39E-4CD0-AC75-9191FB38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Windows CI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5EF07-4B9D-4D15-A69F-25716E7F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440 项中 1 项失败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299F84-A434-44A1-8776-E557D40F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857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BDDA09-893F-49FB-A642-8BCBB8BA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正式发布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95AAD2-AAB3-4266-BC61-8428E1BD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0.1.0，占位；无签名包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7EA98-3742-4C5B-BE52-98478D51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524352-CC07-4315-AC2C-207CBE64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02</a:t>
            </a:r>
          </a:p>
        </p:txBody>
      </p:sp>
    </p:spTree>
    <p:extLst>
      <p:ext uri="{BB962C8B-B14F-4D97-AF65-F5344CB8AC3E}">
        <p14:creationId xmlns:p14="http://schemas.microsoft.com/office/powerpoint/2010/main" val="15531950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8BB50E-EFC4-41D6-9DC4-80282F55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F1432-87DA-4FB9-905E-C890A613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一件钢材的一条证据链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954FE-8A4B-442C-B193-C4D1C374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生产事件、采集事务、算法处理、人工复核和归档围绕同一材料身份组织。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7348D-B369-4D98-8424-AD04D8DF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42A85-CFBA-46E7-97E8-91DF9543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EC546-A866-4386-AAC8-C7D372CB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D9008-F2E7-4236-94CE-D74A4209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48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C98D8-3818-44D7-A8D6-E736C302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材料建档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E729D-28C0-43B3-B776-AA04B578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规格 / 炉批 / chainId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140D0-AB8C-4854-8098-CF586188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718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67182-DD3D-4C14-BF87-22A6C6B8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448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CF007-F8F6-4053-A5A6-20B7DC1B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19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触发入队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BC957-1393-4EAC-9257-42720035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624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PLC / L2 / 人工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15F64-B949-4E86-B200-126B8018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C4ABA-24D8-4519-B04D-A06DE7B8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48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B3AC3-C868-47F7-89E3-2FA6BC70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19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六相机采集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5941C-B716-4DD6-B36E-2ACD8F7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624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深度 + 强度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E0C2B-19A1-46A0-925A-27AA186F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718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CF4E3-6CDD-4AF4-B29E-7BA2DA9E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48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CABDD-C069-4787-BDB4-F42B3C6A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19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三维与测径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5ACE3-F387-4537-A09D-D086DB9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624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同步 / 标定 / 质量门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AC199-7640-4D68-A74F-3A56924C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E8B4B-ABCC-460E-9A82-C01EC8FF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48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0637E-678F-4C91-8B48-DB792C13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19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缺陷检测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448AE-7669-4192-AEDE-17EA3DED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624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候选 / 模型 / 原因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3B553-AB21-41AF-A6F2-BDC4854B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718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76F266-7B85-4564-8D23-49C6D252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48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92E418-DA6A-4163-90A5-539E02FF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19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人工复核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F2ABC6-32B4-47ED-AFC8-FEA4FEC6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624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确认 / 排除 / 重分类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8A8CFC-867D-4EB4-AEF8-FE3A39FA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3718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9F63E3-C2DF-4BEA-BDE7-310ED87A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448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2FA0C4-EBA7-4C16-9D41-D1A1E062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19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报告归档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D10873-E1D8-4984-A68D-FEA6D3E6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624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版本 / 哈希 / 审计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B09396-0554-47E5-97F2-25A7CFC7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83AEF4-7FB3-4FF2-A141-13EA5201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9117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交付目标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D0E21F-2048-4D02-A489-00C7877B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62600"/>
            <a:ext cx="946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任何结论都能回到原始输入、配置、算法版本、质量门、操作记录和不可变归档。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E58A0E-591E-471A-BEC5-DA8CF35D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7679D0-7258-41A2-9995-FC8F39AB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03</a:t>
            </a:r>
          </a:p>
        </p:txBody>
      </p:sp>
    </p:spTree>
    <p:extLst>
      <p:ext uri="{BB962C8B-B14F-4D97-AF65-F5344CB8AC3E}">
        <p14:creationId xmlns:p14="http://schemas.microsoft.com/office/powerpoint/2010/main" val="1744886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E2C164-EE4C-4C7E-85D1-BC65133B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83D8F-333C-4CA7-AB65-3685CC83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系统边界：正式生产只有一条物理事实来源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02971-3A72-4658-945E-4605E9E1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六台 SICK GenTL 相机进入受控采集边界；模拟、回放与历史兼容不得参与生产 PASS/FAIL。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69981-AA64-408E-B3DA-78E9974F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1ED1C-E48C-4E6C-8BC6-060F7627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47900"/>
            <a:ext cx="619125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5D3BD-3149-4873-A973-A0A72C84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北满特钢小棒三维检测系统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27134-4B84-4735-8DC9-153BBCD1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527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5D1C0-B932-46EA-A805-EBCD5AFC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9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73CE9-540A-4090-8AEB-28C21F42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4810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A5BA6-F197-4D11-BAEA-660CC2E2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052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AA835-B84B-43CA-968F-44CA2398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19650"/>
            <a:ext cx="381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A981A-4D30-49F4-971C-95A410A7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767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494FD-3938-465F-AF3F-C15839DC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527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1053F-1BB2-4F3E-A0B0-6F523FC9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9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0EAE3-3F93-41D5-B5C2-D5BBB5EF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576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C900E-176E-404A-A8F6-9D8394E7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147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DC9AD-DD8C-4D7D-980F-B04894B2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71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AF67D-7086-46C4-9116-346C8643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62350"/>
            <a:ext cx="285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E7310-30AF-4E0C-BC8D-D32D6AD8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D59FC-379A-4511-93B1-5BBEA340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724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E3116-D49E-4DC1-B007-EDC061F6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305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926C7-10AA-4643-9083-EAC9F26F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958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9D401-75A4-4CD2-8DF6-02AC1A70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78343-3E59-4E95-BFE5-E1C904D8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9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30F68-C35C-465C-8FE8-86577E0C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5430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1F8ABC-2F79-4181-9B94-1FB5B4EA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操作员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A0547D-71E6-4826-8BFC-C4A46134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5430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B65B6E-8F76-49F4-8CEA-17F5444C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PLC / L2 / MES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62B91-32D0-4911-B07A-DADA2F29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5430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E4603-AD97-4B15-BB2B-F0AAB575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SICK GenTL</a:t>
            </a:r>
          </a:p>
          <a:p xmlns:a="http://schemas.openxmlformats.org/drawingml/2006/main">
            <a:pPr algn="ctr">
              <a:defRPr sz="127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六相机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F7B7D3-7599-4B0C-94AC-D68C535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19431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12B3EB-2036-4814-A0B9-8512076A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384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Tauri / React</a:t>
            </a:r>
          </a:p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操作终端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1E88BB-DCC5-4CDB-9513-66C1260B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20383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05FA1F-D451-42B1-989F-E08171DD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Rust Business</a:t>
            </a:r>
          </a:p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最终业务状态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3E9936-54CE-47AF-AC5F-0BE0CB2C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52850"/>
            <a:ext cx="19431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F8B704-CACA-4492-A1C6-786B2719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Trigger Gateway</a:t>
            </a:r>
          </a:p>
          <a:p xmlns:a="http://schemas.openxmlformats.org/drawingml/2006/main">
            <a:pPr algn="ctr">
              <a:def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PLC / L2 安全接入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E230B0-AF73-42FF-A347-48A9A7BE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52850"/>
            <a:ext cx="203835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0D97FB-F6D2-4AF6-85FC-0E734522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Image / Defect Workers</a:t>
            </a:r>
          </a:p>
          <a:p xmlns:a="http://schemas.openxmlformats.org/drawingml/2006/main">
            <a:pPr algn="ctr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几何、测径、候选与证据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668DA6-5110-4F52-8F8D-DD65BFD9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38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18B8D0-A1D6-4A06-87CE-BCDBEEFF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19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SICK 采集链｜:4317</a:t>
            </a:r>
          </a:p>
          <a:p xmlns:a="http://schemas.openxmlformats.org/drawingml/2006/main">
            <a:pPr algn="ctr">
              <a:defRPr sz="9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Rust wrapper → Python GenTL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34192E-A492-47CE-81E7-39FA97FD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17526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F3ACDE-4375-4B59-B00F-92DF0E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194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DB / Blob / 报告</a:t>
            </a:r>
          </a:p>
          <a:p xmlns:a="http://schemas.openxmlformats.org/drawingml/2006/main">
            <a:pPr algn="ctr">
              <a:defRPr sz="12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归档与审计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F1B098-4C1D-4223-B42A-A309A6AA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53FA26-61C7-4BA8-9445-5EC8E6CB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隔离路径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38B040-46F9-4B4E-8011-562F349A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95950"/>
            <a:ext cx="956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simulated / 文件回放 / LVM 兼容 / BKV 历史数据 → 仅开发、迁移或展示；不能进入正式质量结论。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9C416F-A0A1-4CF9-9C52-BBA73DEB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9E9AEE-7DB4-420F-98F5-F72642E7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04</a:t>
            </a:r>
          </a:p>
        </p:txBody>
      </p:sp>
    </p:spTree>
    <p:extLst>
      <p:ext uri="{BB962C8B-B14F-4D97-AF65-F5344CB8AC3E}">
        <p14:creationId xmlns:p14="http://schemas.microsoft.com/office/powerpoint/2010/main" val="994435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B0A13A-257F-44B8-BC9B-A6B73FBC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6162F-BBE0-4C14-9196-E64402BB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目标机部署：一个 SCM owner，六个受管子服务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1F1C4-4F59-4CA7-9CA0-689FE979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后台 runtime 与桌面客户端分属两套生命周期；关闭客户端不停止生产后台。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4FEB6-4563-4E58-9453-487AA45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E738F-D373-4873-B4DC-8C8F5B87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86765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44B0E-3C5B-4C1C-B5C1-1C91B16B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741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Windows 目标服务器｜后台服务会话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DF8DB-E212-485E-8637-6D98AA5F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45C49-D218-4505-91F7-64D14588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14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CFB78-62C9-45E5-8540-338DFE67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72390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38509-7964-4464-9F17-C2956858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Windows SCM  ·  SteelInspectionRuntime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2D5D0-279F-4598-85BF-6D4CE31B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239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1A4C6-248D-4F50-B8E2-A4458C9B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693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steel-runtime-supervisor.exe｜顺序启动、反序停止、readiness、重启预算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1D02F-E5F8-4AB5-BC71-B74C76A0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21717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5E8E7-159E-42BA-8B07-990CDEFA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BC4C8-84D0-4A95-AB19-ABAC9E8D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282CE-F363-471D-9DD8-750F3CB3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100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Image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889F5-8849-43EB-A3E3-FAA4B4E8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291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:4874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E5FDD-50F1-4DE2-B21A-3E9BB6DC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21717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7DDD1-D371-4B79-BB76-F68B6F63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76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BFDC0-CD13-413D-8811-A6BA8014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053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4FE7A-42B2-45E9-8BA5-0A37B549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00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Image Worker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EDF60-7EB1-4DC0-9F79-52102237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:4875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B0774-8B26-49BF-8385-039FB6A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33850"/>
            <a:ext cx="21717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F22B4-70DF-4591-BBEC-47789890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1707EE-B812-4899-8497-E52E971A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33291-743E-48CA-B85D-3D1FE897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Defect Worker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D13775-A3A6-4C6E-98B7-7C26BE20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291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:4876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0056BC-DBA8-48CC-B323-B17B7276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1717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2A687E-7ECA-4F4D-AAF8-50EC434B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38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A7D622-6F32-46C6-95EC-D67D7CB1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7C4807-6D73-4B4F-8C90-43E67FAD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720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Capture Chain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26755C-FD71-4B3F-AD60-55A06FB3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911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wrapper→Python :4317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4B4BD1-B92B-4A6D-9F3F-6A6E4826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95850"/>
            <a:ext cx="21717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199DEF-CC18-4BCD-AF49-46B0E6A8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38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47BD3B-850A-4348-95E4-ECD151C6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673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44F8DE-23EB-4100-9880-D61EC4E3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Inspection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7DBFE5-390D-4F1B-85C3-3D64EBA0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911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:4873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8E9DCA-EA2E-47F0-8312-7BB70428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95850"/>
            <a:ext cx="21717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A79979-DB49-418F-ADF7-862EE39E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38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88FFDC-2F95-4A9B-ACAE-6CF43462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673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E1A06F-60A1-4614-932E-82586DBA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720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Trigger Gateway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F6A26C-966C-4333-85DF-5663C409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9112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:4881/2/3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8043EC-6274-43B9-A690-09B08772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724150" cy="3714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A75F7E-DBF0-44C1-921F-D5AEE4AD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操作员会话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F7F06A-568E-440E-A482-523F7A60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2288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8DB23A-D20E-4434-A1BD-33300EBF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7180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Tauri / React</a:t>
            </a:r>
          </a:p>
          <a:p xmlns:a="http://schemas.openxmlformats.org/drawingml/2006/main">
            <a:pPr algn="ctr">
              <a:def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只调用 Rust / Image API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91A7D7-2EA8-4272-ABE8-BECA44F8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90950"/>
            <a:ext cx="22288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C14DF1-FEB3-4B6E-A585-585EDBA0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95725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Tray</a:t>
            </a:r>
          </a:p>
          <a:p xmlns:a="http://schemas.openxmlformats.org/drawingml/2006/main">
            <a:pPr algn="ctr">
              <a:defRPr sz="1125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只请求 SCM 控制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850621-7E7F-489D-B702-10406209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22288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0E509A-CA6F-4B8C-B131-3548FFFF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196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互斥 owner 规则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EB65B7-DB62-4C46-81CB-C1F69EAA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435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开发 supervisor / server monitor</a:t>
            </a:r>
          </a:p>
          <a:p xmlns:a="http://schemas.openxmlformats.org/drawingml/2006/main">
            <a:pPr algn="ctr">
              <a:defRPr sz="10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与 SCM 必须互斥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5223AF-56DE-43D9-9D7F-9042EA5D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9A34F7-0C67-4CA9-ACF1-30920665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05</a:t>
            </a:r>
          </a:p>
        </p:txBody>
      </p:sp>
    </p:spTree>
    <p:extLst>
      <p:ext uri="{BB962C8B-B14F-4D97-AF65-F5344CB8AC3E}">
        <p14:creationId xmlns:p14="http://schemas.microsoft.com/office/powerpoint/2010/main" val="8710048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9E1B29-07F8-45F9-A67C-4BDDCD30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99771-809C-4B16-9BD1-B4308D32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组件职责：每个边界只做一类事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3C287-D946-4FF4-BADC-C1F39E4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架构清晰的关键不是服务数量，而是固定“谁拥有状态、谁只能产生证据、谁禁止越界”。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EC4E0-7822-488E-9CB8-731BF005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0C297-6DD1-496E-BAA7-2F82F471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09789-D170-464C-B718-9FBF89AD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层级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3B5A7-AB0D-47F0-8696-039B9272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98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E5271-DBBA-4E15-A0B3-C7343E71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050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权威组件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E0E57-913F-4943-A0D7-4DC2670F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3676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DB192-B225-4D14-8280-50CBC0E9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负责什么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335EA-73E7-48B8-8604-11EAA7D2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31586-00A0-47E4-AFD2-685F6189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明确不负责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9FFB8-9F14-4E1A-9253-DDC2F581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50AE8-9F0B-4FC6-B449-71DD0BDB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采集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321C5-9279-4EEB-91E9-F777F546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9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8EDC7-C02A-4511-A8AE-9EEAE993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2415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SICK Capture chain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1BAAB-CB8C-4F45-82EC-123CC8DA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3676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04489-E4E1-4B8F-A0A8-94BC2D06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Rust wrapper 监管；Python sidecar 独占 SDK/设备句柄、取帧与 manifest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0408E-3D0B-44D3-8B64-B485E099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961EE-FD9C-49B8-B56C-D02A34E4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不决定业务终态；旧 C++ LVM/NVT 路径不进入正式 SICK 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B763D-A675-4734-80B3-ED5A23F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14428-0632-48F5-B839-03C7798B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编排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C2D757-A973-42DB-8B66-4E00D177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0E6C18-381F-4CA1-A46A-51ABC9CE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0995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Rust Inspection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82273-B622-4936-960A-0FB012E7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3676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D33025-84B2-47D3-857F-247534BF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099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权限、任务依赖、数据库、告警、最终结果与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7B30F0-04CA-4B46-8915-E77891C9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2AD18D-E376-4B36-B6C0-B492A4BC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099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不加载相机 SDK；不内嵌图像解码或模型推理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1F0BC-5ABA-4DD8-9F32-F3D18661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B474C8-5CF9-4E98-AA37-AEADAC04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处理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E76C0D-98D9-4560-B61C-6A83FD90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814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51ACE1-E266-4B37-9568-D63BC82F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9575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Image / Defect Workers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73C9C2-F8E8-46CD-9EC4-457A27A5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81450"/>
            <a:ext cx="3676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8FC541-0D69-4BE3-B170-5309C096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同步、几何、测径、表面、模型候选与质量原因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76A350-C350-4D31-960A-B65F3B0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016B69-865A-4DB4-A4D4-D0550C9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957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不直接面向操作员；不签发最终 PASS/FAIL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EDF5FB-474A-4D48-83A2-EA31DD50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ECCB85-D14D-4CCB-8FE9-1906A810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837C89-C446-4074-8EC8-8A23DAFC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E9EA71-B40B-4595-A634-3C58478C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8155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Result Contract / Image Service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F8C807-4F74-4825-810C-DD90ED0D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3676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07BE9F-7AE6-4AAD-9802-5EEB4BA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815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原子记录、内容寻址 Blob、catalog、预览、瓦片与缓存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E4CFBD-23D8-4446-A14D-86A39F86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672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4341B1-AE6D-44FB-A135-66723068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不接受前端任意本地路径；不回写采集原始事实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D82125-D6E3-4DA1-95AA-CC9A3E67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DAE829-3B76-435A-B06A-36DF8D0E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交互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57724B-1755-4688-845D-F0E9FC53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530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689769-8954-4D3F-A35A-E803CBE0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6735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Tauri / React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E56348-484D-4A90-B0EF-7DEA7875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53050"/>
            <a:ext cx="3676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715189-32B9-46B2-A6C2-BCE233DD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673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监控、复核、测径、报表、告警、参数与受控操作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820DD3-0EC8-4F05-9DE7-57054302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530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CB2D2F-7166-45EA-A5E2-848B9CE3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673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不守护后台；不直连 Trigger/Capture；不持有 SDK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659AA3-BFA3-471D-B784-53D54603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2AE36F-6CF3-47E4-80FB-34BD52DE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62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唯一终态规则：原始输入由采集边界固化，派生产物由 Worker 生成，只有 Rust Business 可以形成生产终态。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00415B-BDE6-46F6-BBBF-CE5C1CC8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4D5A1D-4EBC-47F0-82CE-DE15A085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06</a:t>
            </a:r>
          </a:p>
        </p:txBody>
      </p:sp>
    </p:spTree>
    <p:extLst>
      <p:ext uri="{BB962C8B-B14F-4D97-AF65-F5344CB8AC3E}">
        <p14:creationId xmlns:p14="http://schemas.microsoft.com/office/powerpoint/2010/main" val="1551178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589C2E-62A4-4A28-B893-383ED9FE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75E79-20B9-4788-9408-83012560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控制流：事件先持久化，再按依赖执行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1F08D-499A-4AC3-85C5-A577DADE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PLC/L2 重试不会重复生产动作；前置失败会阻断下游，而不是继续调用相机或算法。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09A25-DC63-496B-800F-C96D03DA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B77C-DEC8-4B80-9EC5-D530E1F7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94A8B-A396-430A-8D02-82592419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765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95366-AE29-4495-B6CA-ABE40BC3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7E079-4E7B-4D3B-ABDC-674012EB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765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54520-1627-46E9-940F-067A64B4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194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5E89D-43B0-416B-AAC4-2C149B09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765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0BFB2-040C-4606-B930-C2CF45BB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71A99-4774-4BEE-A247-C7B02866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PLC / L2</a:t>
            </a:r>
          </a:p>
          <a:p xmlns:a="http://schemas.openxmlformats.org/drawingml/2006/main">
            <a:pPr algn="ctr">
              <a:def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外部事件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C8AD9-7014-4F22-837F-F7602752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3C9AC-0A5A-406B-AEAC-28701221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717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Trigger Gateway</a:t>
            </a:r>
          </a:p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鉴权 / 来源 / nonce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2706E-B7D5-4342-B1B9-903ECA3A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AA440-28CD-4F45-837F-2664D59E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Rust API</a:t>
            </a:r>
          </a:p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权限 / 幂等 / Tauri 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96109-2A97-4211-A516-5DD459D3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68946-E255-472B-A38F-CE2BCE96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数据库任务账本</a:t>
            </a:r>
          </a:p>
          <a:p xmlns:a="http://schemas.openxmlformats.org/drawingml/2006/main">
            <a:pPr algn="ctr">
              <a:def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FIFO / 依赖 / 重试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508E6-E0D4-44B3-B2D0-93728DFF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持久化生产任务链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DE44C8-9910-4CA7-BA29-FE30D6BB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DC539-9096-4BB0-8733-CFE12F4C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529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1EBFF1-74FA-419D-8254-50048486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95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F8DF2-A609-4658-B5E3-7116CC3D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529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1DFAF-46D8-4286-BD15-D250BB63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98156-B62E-42DD-9419-79AF4933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529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DD5F2-E081-455A-80FB-5197391A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21703B-8E02-4139-9027-87141708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529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BC3894-8769-47E3-AAB4-9BC4F5DC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430DDD-0C0E-4C24-B5B3-C2B4E391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steel-info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F16DF-8223-4B5F-9C2A-DAE95146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材料身份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4065A3-52BE-419F-8F4C-D544F9DC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7195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E284FB-FD06-40E2-B65F-75159C7A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862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steel-in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6D5C95-20E3-496E-BE09-C83E7EF1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529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打开会话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8DEBE4-BF9E-42F7-A105-C8BAC6D3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7195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9D0426-3C37-4F95-B46A-A87FBFE5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capture-once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5901A7-6A87-4327-8357-95AC1CCF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六相机轮次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39FB63-9D59-4B16-972A-62638616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D9FC7A-B9C8-423B-A4AA-0F4A4DD9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862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algorithm-run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9A282F-FBDA-4262-AA96-1BAD8850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529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派生结果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4717F7-29DE-4A96-B06C-8916524A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1676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55496D-16E8-4094-9D86-4E247B25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862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steel-out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F7A5EF-0E83-4F08-BE92-13164093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529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安全闭环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463323-C0A4-4634-A600-DF878356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197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277757-CD9D-4A91-94B4-D422EA0B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前置失败 / 取消 / 中断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5CE745-3095-4769-873E-E75A968D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直接后继及其后代进入 blocked；从失败根节点重试。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31838E-99EA-425A-A03B-C406FBB0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19700"/>
            <a:ext cx="5524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F1475F-447B-4534-8B18-F7640205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91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幂等与安全放行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F5B79F-C911-4060-8ABC-89249B26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769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稳定 requestId 去重；只在前置成功后 claim；steel-out 保留安全退出通道。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234986-B74E-4A39-942F-83BB46E4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931063-DD2C-4D9E-BDC8-AC091997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07</a:t>
            </a:r>
          </a:p>
        </p:txBody>
      </p:sp>
    </p:spTree>
    <p:extLst>
      <p:ext uri="{BB962C8B-B14F-4D97-AF65-F5344CB8AC3E}">
        <p14:creationId xmlns:p14="http://schemas.microsoft.com/office/powerpoint/2010/main" val="1620210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D9082A-A0F1-4334-B42B-FDDCAC4D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3FE99-BEC2-49FE-BB57-F4A5BF4C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数据流：四段版本化合同把原始事实变成业务结论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E58D6-28CF-4E64-8C6C-6A8250F8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每一段都规定生产者、消费者、完整性、哈希和失败语义；只有 complete=true 的上游才能进入下游。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E1A21-A54A-49C9-A749-DD996E2A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56760-FD9C-4C58-A793-7347C9FC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62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1AA2E-E8FF-4D4A-9B07-4754161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03FE1-A51C-48C3-BDB0-A1E7F6AA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6D9B2-DE42-4931-BD03-3AAD58AF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CC942-AD3A-4DEE-9A61-791AB3C6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62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50141-CB02-4917-A967-AB9A89DC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19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AA441-37A8-4C2B-A632-9D01A380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623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02431-EEC4-48EC-8355-47EEB157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19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D9E2E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485A8-CB12-4F51-8046-272D5929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809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D8951-5366-494B-AD71-7F4FCEE6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SICK 原始帧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FB5C2-2F1D-4045-BEF3-6472F91F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depth / intensity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85BD4-EE0C-4ABD-A593-97F4433C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不可变输入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7955B2-FC95-4223-92D2-7AF4DC4A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1809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8DADD-560E-44BA-9BFE-CC399260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acquisition</a:t>
            </a:r>
          </a:p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manifest 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9FBA8-12A4-46BD-91A4-49C4BE49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432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相机 / 轮次 / SHA-256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97573-A774-40FE-B8EE-D8C97AB5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Capture →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C0D8B-7268-4B16-B49F-9275DA1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57450"/>
            <a:ext cx="1809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D609A-5629-4EC8-B50C-CADED2C9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289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image-result 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F9FDC-C463-4E1B-856B-19BA6168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同步 / 几何 / 测径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EC3FD5-23D5-45AB-92E7-0DDC5139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62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Image → Defect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D4735-18A6-4B4A-B605-5837BD5C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57450"/>
            <a:ext cx="1809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DD2D2-EE7D-4F6D-8049-EAC32E14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289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defect-report v1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015C0B-6B0B-44EA-B8AA-52189AF6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候选 / 模型 / 原因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68DF1-FFB0-4C2D-BF65-630BB350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62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Defect → Business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0E55E-A517-4DCF-B9DC-6C0EA0F6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1809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4975AA-DD1D-4B0C-9131-526C22CA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最终业务结果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2D2B3A-22DF-47F3-94CD-A708AFF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432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记录 / 告警 / 报告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5CCC81-4581-4D49-A10C-80ACD2DB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62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仅 Rust 签发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CFC360-34A9-436C-8AB6-DFA6E3A6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原子发布与读取路径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34DB8A-0A98-44C7-9D11-CE622E2D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BEB26E-D553-41B3-B385-2FE35650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38C02C-B52D-4F14-B7C0-63FF05CD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同卷 staging/&lt;job&gt;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638641-347E-4CC3-8ED9-43379EC2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先写临时产物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366AF2-79AC-422C-855D-84E4804A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244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85DB96-A701-4F49-B30B-88C365F3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529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1AA21A-8856-4F45-B213-E619F34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86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校验 size + SHA-256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0CBFCA-6B04-46A2-9019-E7555EDC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72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拒绝不一致来源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8719F5-584F-46EF-950D-D567440B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244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A46A4A-1394-48F5-BC41-D10B14C5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529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4DAC4C-29A4-4162-858D-9BC30922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86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blobs/&lt;sha256&gt;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5FAE7B-C431-42B8-BFCC-FB49A4B2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72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内容寻址去重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681EAF-D3C0-4642-9615-3C90986C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244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C42CFE-03C9-45BC-8F10-9ED3DD58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529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C8363E-06C2-4683-8F0A-C0CDA72F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86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records/&lt;id&gt;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6782E3-54EE-4B76-A9A0-261356CB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72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目录原子切换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2CA6FE-E2DA-4F0E-AD3B-DAA7A6B1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244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FC223D-F519-4C52-BEF0-7E167E3C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529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14CF52-E4B1-4C2B-9120-8E3E0231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86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catalog.db 事务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A0F03C-C1BA-4C55-9C42-D25D3D51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72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索引、缺陷、制品可见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9E9773-B525-4704-8ED9-2759D454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CE98C1-3466-4D5A-B32F-0E08EAF6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054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失败语义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E5E68D-640A-4518-9AB5-A72BFD54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57850"/>
            <a:ext cx="956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缺文件、哈希不符、schema 不兼容或事务未提交 → 不进入业务查询；派生结果可重算，原始采集不可覆写。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230C67-5E06-483F-9670-ABD3523E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B717AD-35C6-4CDB-A968-07730188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08</a:t>
            </a:r>
          </a:p>
        </p:txBody>
      </p:sp>
    </p:spTree>
    <p:extLst>
      <p:ext uri="{BB962C8B-B14F-4D97-AF65-F5344CB8AC3E}">
        <p14:creationId xmlns:p14="http://schemas.microsoft.com/office/powerpoint/2010/main" val="6041715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0E1DDF-45AE-429A-A742-CFC8FC1C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25574-61D4-4564-96F4-56E1E69C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运行时边界与端口职责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4CAD8-9336-4556-8B00-E36B22BF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正式环境由 Windows SCM 持有服务；交互式开发 supervisor / monitor 不得与 SCM 抢占端口。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C25D3-E269-466C-9D20-10FF8DBF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8B1E7-1099-4806-AA3F-C73561FC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4317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1BEDD-A990-4CF2-9661-93D76C7A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SICK 采集链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EAF77-795B-48F1-816B-F59BC92B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Rust wrapper → Python GenTL；取帧、存储、标定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26B7D-5324-4F69-A27C-BB7E7838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B3342-9A1C-4BA8-A5EB-2F04CECD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4873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D2376-A0BE-453B-992E-C93E27FC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业务服务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566F2-93B2-4823-85F0-B91E2C44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权限、任务、数据库、健康、告警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4D6A8-E4C8-4914-AD3A-20DDE5D3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B671C-6F2F-4707-8078-1D2ABDB4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4874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6F6A2-FECA-4B61-8250-FDB180D2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671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图像服务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62AED-3B43-4F8E-A38A-51DBFE02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预览、瓦片、缓存、结果读取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2D54C-322D-4232-81D4-85C7F459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F0A1A-6E5D-46F9-9B46-62E0CB0D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4875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2B605-B461-412C-845C-5C58B2FB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386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图像 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B5F6E-9CCD-4602-8178-84A250B6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3860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同步、重建、测径、产物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8D466-0CFB-41E5-A728-EA8CA0C8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ABA960-A432-4D30-9F4C-31C28F46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4876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E5049-A9D0-4C71-BBBC-3F16BCA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01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缺陷 Worker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DE33C-0ADA-455B-943F-E8287DD4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010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模型推理、候选与原因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43488-83A5-4BD0-97FF-4ACF0E6A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789666-A328-4176-85A9-1D2929F2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4881+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75140B-F9EE-45C1-9861-7850E5A7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触发网关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036929-DF14-43CE-A7CA-18C3943D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8160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HTTP / TCP / UDP 触发接入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DF9253-1A60-49B1-9D41-6E24F42B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BB9EFA-AF1F-4EF2-8B4A-7942CA63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48196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DA158D-5313-450B-903F-B603EBCB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应该这样做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0931A6-9508-47AF-9ED7-8FDB3B24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BF229D-82B3-4831-B556-4AB026D9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SCM 顺序启动/逆序停止，独立状态根与日志根。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057130-D015-49C1-AA2F-31F6ADC5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48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32C33B-7AF6-4087-915F-0C2DA70D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所有写操作经过 Rust 权限与审计。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F967E2-0FD0-45FF-9D2B-4BE2844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8196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41BC9C-2127-4BFD-A53B-93EA0883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57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禁止这样做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492B4D-D986-4C47-BB52-C5B81402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91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D42AE0-95E8-4F69-9DFF-C6BAE735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149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Tauri、Trigger 或采集进程直接决定业务终态。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AC3B31-6BB0-4201-8FDD-155E5AA0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91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A63B8F-639F-4C27-97C5-8C6D39E4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14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开发 supervisor 与 SCM 同时持有相同端口。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FC5B3A-9D57-41B1-AAA2-D3CB0242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D7CAFE-C77E-4DD6-AE4C-B66576F5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09</a:t>
            </a:r>
          </a:p>
        </p:txBody>
      </p:sp>
    </p:spTree>
    <p:extLst>
      <p:ext uri="{BB962C8B-B14F-4D97-AF65-F5344CB8AC3E}">
        <p14:creationId xmlns:p14="http://schemas.microsoft.com/office/powerpoint/2010/main" val="1357636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C50F19-A4D5-41AA-A221-D3CCEAD4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D9906-6F45-4199-8F2B-5DF5013A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故障隔离：四层 fail-closed，恢复从证据开始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948CA-4834-4037-89E8-D18F9913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端口可连接不代表系统 ready；任何关键层不完整，都必须阻止新的生产质量结论。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D49B0-CDAE-429E-8D55-29AAFC38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0EE7F-DB1D-49E1-9493-F1DDF6AC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16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88807-95BE-4E35-94FB-0C5FA0F3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层级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9D6F7-A878-4777-9C34-98C375CE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098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C6B48-85FA-4A6F-A62E-4DBBCC86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050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典型故障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86F81-CE61-4AB6-BBF7-E95C2EF4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9AA8B-67D3-45D8-A7C8-C9EC285A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系统必须怎样停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B2CEC-1335-4627-AF78-03F9E88C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2381D-9A4E-4A21-8199-E1643EE6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恢复依据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F1072-C6FA-4E85-821B-8C4E69B4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162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E9C4F-50DB-4F06-9AE2-056283AE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进程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029A6-D6A6-4C29-B25A-319F3D85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098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8E743-F540-4A65-9B52-363A034E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33675"/>
            <a:ext cx="2343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子服务退出、端口冲突、readiness 失真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727A2-2C71-4348-AADF-39C86850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09850"/>
            <a:ext cx="3695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3399F-3AD8-46CF-9C35-C33EE832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33675"/>
            <a:ext cx="346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反序停止受管组；按预算整体重启；禁止双 owner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A1E32-E173-4853-B421-18A49D1E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3543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512EF-212A-4288-973D-4EE817D2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33675"/>
            <a:ext cx="331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应用级 health、进程身份、supervisor 状态与日志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D32B1-0D83-42C2-91A0-BEFD5CE6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162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316CE-271F-4E47-A6A5-C694E767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文件/轮次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22D91-38E2-4B61-B63D-169B95C1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480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7AABF-EA24-4FC1-9895-992A142A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71875"/>
            <a:ext cx="2343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缺一路、半写文件、哈希不符、metadata 缺失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235599-086A-4F86-9CFE-F7AF5683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3695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7B40B0-3855-46F9-A026-C46746D5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71875"/>
            <a:ext cx="346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轮次不提交；残缺产物隔离；原始文件不覆盖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79CA4-5F41-4A30-BC2F-8602BCED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48050"/>
            <a:ext cx="3543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F9F99-3B3D-42F3-962C-9D53B03E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71875"/>
            <a:ext cx="331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staging、SHA-256、capture manifest、writer/DB 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2EC248-C506-469F-B7DB-33EEA3FC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162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E78E15-59D2-4CB5-A99E-29DF9711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9199E5-6A94-462B-A24B-8C51BB13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862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4090AA-A33E-4A46-96CA-28DB2101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10075"/>
            <a:ext cx="2343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前置失败、取消、中断或服务重启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7EA252-767F-4695-9A38-EE7DF0D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86250"/>
            <a:ext cx="3695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3ECA52-B2EF-480C-AEC0-FB14B170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10075"/>
            <a:ext cx="346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下游 blocked；不继续调用相机/算法；从根节点重试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A7FED2-6DB3-452D-A906-EC7D52BE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3543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C163A2-7FF8-4372-8EF6-EAC6CAC6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0075"/>
            <a:ext cx="331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任务账本、依赖链、requestId、失败原因与重试次数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F98F76-CB9C-4FC4-B57D-E15C4EDE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162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844378-7FE5-4157-A241-9E941ABD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存储/DB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E3DB24-7B99-400A-93A6-E1CCA3E2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244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D4D11D-03E5-439D-B3AC-9FF860A6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48275"/>
            <a:ext cx="2343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容量过低、事务失败、升级中断、版本不兼容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0A7D65-AB53-4FAC-8C3E-E06947BC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24450"/>
            <a:ext cx="3695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0EE273-2391-448B-B4C1-379B3D31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48275"/>
            <a:ext cx="346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关闭新 steel-in；保留安全出钢；无法证明可回滚则停服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EC6EFD-2C22-43AA-8F94-5CA2750F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24450"/>
            <a:ext cx="3543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13787A-EF76-4422-8198-A85A1F36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48275"/>
            <a:ext cx="331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在线快照、版本 manifest、部署 journal、恢复回执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8503FC-F712-43E2-94A1-6F3F2766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E5225A-A792-4694-8CCC-FD75F914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1062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恢复原则：先冻结日志、manifest、任务账本和部署 journal，再做受控重试；不得靠手工改库制造“成功”。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F2B04A-F474-4FC7-9366-A2AF9264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CE9D2A-3B43-416A-81E8-1BFF98D0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10</a:t>
            </a:r>
          </a:p>
        </p:txBody>
      </p:sp>
    </p:spTree>
    <p:extLst>
      <p:ext uri="{BB962C8B-B14F-4D97-AF65-F5344CB8AC3E}">
        <p14:creationId xmlns:p14="http://schemas.microsoft.com/office/powerpoint/2010/main" val="18234785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BAE795-8834-468D-9410-DBA5FA94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6CB13-11C7-4CBE-9FC1-1DF4B18D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配置与兼容：六相机正式基线，其他路径保持隔离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42A36-29EF-4686-961B-00CADC3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前端使用同一套 Inspection World API，但数据源资格和允许输出的结论完全不同。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66608-3BAE-4301-BF2F-2C2BC27D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A5E46-1384-4392-8C49-7B9DBD78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628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47398-9B40-4F06-9673-DD864333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当前 activeSiteConfig = sick-array-6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1A48A-65A4-414F-BA94-ED0A31F2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352800" cy="316230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0C3F2-166B-4451-9DA2-620ABF49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35280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41BE6-E77B-4334-AE8D-C464325B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正式生产｜SICK 六相机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5C33B-D1B8-435B-A673-6A902855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数据源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ACF33-76CF-4BEE-A834-12586394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528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online-production / direct-camera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15257-5F0C-4102-B581-361FAA3C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0678D-AE93-4C36-87A9-0AC98EDA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相机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56F01-ADD7-4D0B-8C9C-04657E52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C1-C6，固定 SN/IP/型号/固件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B8286-A736-4EED-881F-D51BACE4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87321-3F5E-45D6-955A-973292D7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允许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AD74C-5E76-40C9-9ABE-09F570D5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真实采集、标定、测径、缺陷与签发门禁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17AFC-7587-4C0C-849B-BB1FE994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267F7-D13F-413F-A299-4936DED1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5D8EA-E218-4A73-AAB3-6FF52D8A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现场、算法、恢复、发布证据全部通过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24F09-BFA8-4963-88A4-CAF09AEA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09850"/>
            <a:ext cx="3352800" cy="316230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97D6C-A8D4-4A97-B367-CD12BF7E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09850"/>
            <a:ext cx="335280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8F1AC-DBB5-4AA4-B007-0DBA677D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开发联调｜simulated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0EBF5F-4B3B-43FF-A030-3EDA1C59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数据源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7476F-674B-48F8-9E5E-5597EA4C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528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development + simulated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728C8-0339-4B01-8D49-ABEB241D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00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8680F-DE45-4F1C-BC28-A80E61B6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相机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026F3D-17E4-4B69-BE79-163530D6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虚拟设备；可测试 UI/API/任务编排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FF2F3-1095-4C90-B816-2A2B9C81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815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3B5AD-0442-4608-9FC2-F3AD47DD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14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允许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3F396E-103C-4040-9928-67D169EA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958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开发、自动化回归、演示与故障注入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AF778A-0011-4C5D-90F3-852F8B44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FDC16A-D457-4948-8715-684BEF94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86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禁止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5C0B4-5350-4CDF-BEF4-74AB78DD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673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替代真实相机、计量、节拍或生产 FAT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2A9D5D-17CE-47C9-9A70-0C82F067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352800" cy="316230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8136F1-F99D-4472-BB44-67DFDDEC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35280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9B88D4-80ED-47E9-A641-4DE604B7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历史兼容｜BKV / 回放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3C6F01-FD5B-4EC1-BE2F-627528E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数据源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AC1273-DAE0-4699-8B14-46FF5583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528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BKV Worker :4877 / standard-record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562905-6C90-499C-B964-11DBFFB8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D51B73-A9ED-4FF3-8945-22EB15F4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相机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166FBD-CA16-41E3-B4F6-A8388A39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243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只读历史与受控迁移；不持有 SDK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769576-C8DC-4BD2-B172-E57C1D24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656F17-238E-4C9F-8CDF-EFC260D9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允许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5998B4-FA20-45B0-BD4C-E3AD93F9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958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历史查询、兼容展示、离线重放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DFDC70-F91B-43AE-A268-62F48477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55E9DE-E141-4CC6-8E2A-EFDF5A2A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86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禁止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4F11FB-5496-44E5-8998-7A6A080F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673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进入正式 Supervisor 或影响实际相机判定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2D8C6A-BC39-4476-88C9-9E3A60BF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37FCC6-4EE3-4389-9B60-BBE76E36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1062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历史八相机、LVM/C++ 与旧共享目录材料属于兼容证据；出现冲突时，以 runtime-boundaries-v2 与 sick-array-6 当前配置为准。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CAF4AD-88FF-4D45-9DCD-0FB4022A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4B4839-A066-4A1A-AF7A-83C72C29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11</a:t>
            </a:r>
          </a:p>
        </p:txBody>
      </p:sp>
    </p:spTree>
    <p:extLst>
      <p:ext uri="{BB962C8B-B14F-4D97-AF65-F5344CB8AC3E}">
        <p14:creationId xmlns:p14="http://schemas.microsoft.com/office/powerpoint/2010/main" val="12787693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F4C39E-9D32-4841-927D-4C9D15B4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187C0-9A7F-4EF7-8C91-AFCA696D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六相机采集：原始数据先写，元数据最后提交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7B658-1B37-4747-8A23-FCD8A5ED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采集轮次只有在六路文件、校验和与事务证据完整时才进入下游。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2A031-C14C-4341-8AA8-9421BD01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1112745484e18"/>
          <a:srcRect xmlns:a="http://schemas.openxmlformats.org/drawingml/2006/main" l="31908" t="0" r="319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62200"/>
            <a:ext cx="53340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AD250-5A0B-42FB-8A0A-D0EB4E8B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示意：JET 高度展开素材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EE63E-8D58-4F44-998E-B19C30A4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DAFA4-A84B-4DF7-BC2A-31FD20A9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C6557-0849-47A8-8838-5DB9E68D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66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设备身份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06749-2ED9-4834-95A4-0E7626F3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7175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SN / 型号 / 固件 / IP / CTI 哈希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27694-8762-4C74-99D7-AF44BC8F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E391F-CA30-4E3D-B71F-39B472B5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242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A1FCB-46A5-42F5-B3EB-80B1564C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B7958-D357-4382-A29B-30184476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43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帧事务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1BF30-6B9F-40CA-A84C-87FAC2DF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4805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深度与强度先写，临时文件原子替换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2F8B6-764E-4477-8E30-D0AD42D6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6F8DE-4BF5-4D6D-850A-2F3804BB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0DC9C-50DB-43F3-827E-C0758D22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6AC0E-8B27-415D-86D9-FEB7C077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19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完整性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B7191-D8C6-4686-8596-1DFAD36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2435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SHA-256、六路完成度、存储与 DB 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ECE807-03C8-4749-8DD5-FCFF828E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9580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CB599-2EFF-4C83-9F9C-EEE49BE6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0361E-4333-4FBA-B89D-31AD3A49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E584E-EB06-4E63-8D37-ECA5FF24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95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提交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EE786-0313-498A-B6BF-1BAEE7CC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0065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metadata last + capture-frame-committed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0FEDAD-FB25-4948-B2CB-AE83EFCC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53340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E72FF-46D6-4336-BC77-93542258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Fail-closed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C57691-D8AB-40E0-9F1B-606A2A2C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626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缺一路、写失败、哈希不符、存储/DB 不一致时不得发布完整轮次。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1CD242-029F-4588-8979-EA4A1330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56608-48B6-431A-B71F-E6BC8F8F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12</a:t>
            </a:r>
          </a:p>
        </p:txBody>
      </p:sp>
    </p:spTree>
    <p:extLst>
      <p:ext uri="{BB962C8B-B14F-4D97-AF65-F5344CB8AC3E}">
        <p14:creationId xmlns:p14="http://schemas.microsoft.com/office/powerpoint/2010/main" val="11793461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DA344-BE72-47F8-9116-D7CEFD48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EE597-516C-4D74-A9DB-AE672A09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标定、测径与算法：三道公制门禁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E4F4E-6458-4597-8ECA-CDF34DA2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点云可视化不是结论；只有质量门通过，才允许输出可签发结果。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27F49-89FC-406F-8F52-6E688951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A3EBD-6C3C-45E2-944B-4B6D41E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37185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29656-DD97-47DB-90B9-E3322078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CC0A5-3249-46A7-BE32-1A10F25F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622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GATE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1DDA1-9D20-4F3B-97E4-97173D66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同步与覆盖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31323-56DD-4E31-BDD5-F6DBF7EF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六路轮廓点、sequence skew、固定角度覆盖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2F6D5-54D0-46E5-B5CD-B9A10CEE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BFA14-C8C8-4E3E-981F-52A509C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缺失或错序 → metricValid=false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8B41F-07A2-4806-858E-079E3950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337185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DE59B-0538-4F07-86A7-7E12AE45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0A7C4-08D1-4987-889E-4ADC895E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622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GATE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DA844-04ED-45C0-9AD5-F748498F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99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标定与拟合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F5E72-AB8E-464D-9A3C-D6EDD75B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标定身份、截面数量、拟合残差、绝对纵向尺度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CDBC7-A31C-40A0-B8BF-CFA8F4DD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1150F-BF73-4B17-B4C4-93A20623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14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无有效标定 → 仅预览，不给公制结论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BDF71-B1FD-4820-933F-EA2EAB71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7185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A099FC-8738-44C5-AC5C-CE0976DB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43BDF-F8D8-479A-9BD2-33124492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622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GATE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13782-E89A-49B0-A72B-A645418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算法准入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B0FEE2-C068-4F02-AAE5-09F79BE2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冻结数据集、模型/GPU、阈值、P/R、版本 manifest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217F9-D075-4F57-97AD-BC3046FD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D7A24-31A6-47DA-B3E0-F8B67161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14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未批准模型 → 不可发布质量结论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9AECA-1A31-4DFC-BF10-02BF5D82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FE4CE0-DDC7-4239-AE05-38FBB6DD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13</a:t>
            </a:r>
          </a:p>
        </p:txBody>
      </p:sp>
    </p:spTree>
    <p:extLst>
      <p:ext uri="{BB962C8B-B14F-4D97-AF65-F5344CB8AC3E}">
        <p14:creationId xmlns:p14="http://schemas.microsoft.com/office/powerpoint/2010/main" val="7655900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A7084-0E11-4690-8D10-5F0CADF2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270F0-53E5-48FB-AE29-2090A5CF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操作界面｜在线监测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02B74-0612-444C-BCB1-94B06B8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主工作台把记录、六相机区域、三维/切面、缺陷图和测径趋势组合在同一上下文。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648BA-26C8-4209-88CE-0407F51C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551d6a750492e"/>
          <a:stretch xmlns:a="http://schemas.openxmlformats.org/drawingml/2006/main"/>
        </p:blipFill>
        <p:spPr>
          <a:xfrm xmlns:a="http://schemas.openxmlformats.org/drawingml/2006/main">
            <a:off x="2898681" y="2171700"/>
            <a:ext cx="639463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E93A7-B08C-400B-AF1D-94795488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324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32BAE-DF5D-4F32-8587-D5EE88ED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8167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本机 development + simulated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0FA83-5E61-4B68-B403-7D901488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5310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5DBFD-DF6D-4DA7-9D5F-207F2510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816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仅证明 UI 与模拟链路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5848D-3C19-427D-A433-6D580CEC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C0F25-4BF2-42DD-B108-12C44BF3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14</a:t>
            </a:r>
          </a:p>
        </p:txBody>
      </p:sp>
    </p:spTree>
    <p:extLst>
      <p:ext uri="{BB962C8B-B14F-4D97-AF65-F5344CB8AC3E}">
        <p14:creationId xmlns:p14="http://schemas.microsoft.com/office/powerpoint/2010/main" val="19255764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095EF-8ECD-4FBF-B383-8849CF7B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B10EF-FEBA-4727-84EB-B03C7933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操作界面｜缺陷分析与人工复核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C60E3-5705-400C-8C7C-619B709B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面向候选定位、来源分组、类别/严重度调整和审计闭环。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98038-3E38-4112-BCA6-B01CE724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67d0e206c41b3"/>
          <a:stretch xmlns:a="http://schemas.openxmlformats.org/drawingml/2006/main"/>
        </p:blipFill>
        <p:spPr>
          <a:xfrm xmlns:a="http://schemas.openxmlformats.org/drawingml/2006/main">
            <a:off x="1460406" y="2171700"/>
            <a:ext cx="639463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AA8F9-2E38-44FE-ABC1-E9332B27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62200"/>
            <a:ext cx="25908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5583A-EEF6-4F57-A239-85D9717F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146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候选分组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89D75-B8BE-4478-982D-FD94E342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384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AI / Geometry / Legacy /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ACBE4-9AB6-4332-ACB6-949EFDDA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25908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FDB99-FBA2-495B-B5CE-BF839C56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195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复核动作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1BA4C-24DD-43A1-98BD-3877DF5A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确认、排除、重分类、严重度、说明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FEF73-9E34-4464-A45F-8DA5FCE2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72000"/>
            <a:ext cx="25908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833FC-9E78-41A8-B386-8B58E963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244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证据要求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39C84-787A-460C-9ED5-DFCA05E3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482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来源、输入、模型、阈值、操作人和时间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C5468-12C8-41B4-A9DF-75F370A3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0E604-5318-4269-B48F-B7CF7999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15</a:t>
            </a:r>
          </a:p>
        </p:txBody>
      </p:sp>
    </p:spTree>
    <p:extLst>
      <p:ext uri="{BB962C8B-B14F-4D97-AF65-F5344CB8AC3E}">
        <p14:creationId xmlns:p14="http://schemas.microsoft.com/office/powerpoint/2010/main" val="7526297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43E41-A15A-4AF4-BAA9-481CBE5F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16E18-BC6C-4F45-91A2-DACACF00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操作界面｜测径分析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CA632-8A0C-4271-B2E3-B52014DA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趋势、截面圆度、极值、公差和数据质量在生产记录上下文中统一展示。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4882-1306-4562-BE90-AB75B0BA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8a0072a8d411b"/>
          <a:stretch xmlns:a="http://schemas.openxmlformats.org/drawingml/2006/main"/>
        </p:blipFill>
        <p:spPr>
          <a:xfrm xmlns:a="http://schemas.openxmlformats.org/drawingml/2006/main">
            <a:off x="2898681" y="2171700"/>
            <a:ext cx="639463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FA83F-09CB-44BB-AB2E-43856F53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3295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4A431-9EBC-4196-9D23-8357FE79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816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当前记录未绑定合格 production inspection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8B66B-23B2-431F-9EAD-E39D1771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53100"/>
            <a:ext cx="1676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56FB9-AF69-48C8-83F2-F4F56EB9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7816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导出正确失败关闭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E8245-5E0D-48A2-8B20-530D7C1E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A0ABA-934D-4000-9156-07709200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16</a:t>
            </a:r>
          </a:p>
        </p:txBody>
      </p:sp>
    </p:spTree>
    <p:extLst>
      <p:ext uri="{BB962C8B-B14F-4D97-AF65-F5344CB8AC3E}">
        <p14:creationId xmlns:p14="http://schemas.microsoft.com/office/powerpoint/2010/main" val="13392308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278C7-0204-4FEE-82B2-D5DFFDE6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A1DF2-97E3-4ECD-8C94-F1CA822F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操作界面｜缺陷报表与归档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3B93B-9ED6-4C59-8AE9-9653344C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检索、汇总、明细、CSV/JSON 导出和打印版构成对内复核与对外交付入口。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7038C-6C52-4DC7-8FBF-EA4CC5C4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308b6c4f54d05"/>
          <a:stretch xmlns:a="http://schemas.openxmlformats.org/drawingml/2006/main"/>
        </p:blipFill>
        <p:spPr>
          <a:xfrm xmlns:a="http://schemas.openxmlformats.org/drawingml/2006/main">
            <a:off x="1841406" y="2171700"/>
            <a:ext cx="639463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D0E9C-CC02-4C2E-8A37-A80F157B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62200"/>
            <a:ext cx="1866900" cy="28575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4056D-7A63-4FB4-952C-7BBDB75A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正式签发门禁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82C97-3205-4B22-B0B4-6303362F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62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D6CE8-5E4A-4644-9AA4-4A7C6C6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861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签发权限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03BF8-7484-4CB7-B544-899B2CC5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62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7FEB2-91F4-438A-85EA-4AC01B2C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86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数据截断检查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DA028-8507-4315-9080-38DDC564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62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C7C19-11BB-4863-BED0-21FD504F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86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版本与身份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88D6B-14CD-4198-A451-88216680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A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D1793-FD10-415B-BC7F-3CCF1DB9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6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归档不可变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04C91-912E-48A4-B122-491E4493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模拟记录不得作为真实质检报告。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A630B-EE1E-4A0E-8EBA-B159082C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E8833-C37C-49B0-A7BA-4A94464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17</a:t>
            </a:r>
          </a:p>
        </p:txBody>
      </p:sp>
    </p:spTree>
    <p:extLst>
      <p:ext uri="{BB962C8B-B14F-4D97-AF65-F5344CB8AC3E}">
        <p14:creationId xmlns:p14="http://schemas.microsoft.com/office/powerpoint/2010/main" val="4692722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181E8-050D-419D-8E58-C1746BCA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EB0CE-9900-4E9E-82A7-C55FC62D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运维界面｜报警中心与采集算法日志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98E61-3AB1-4496-87B9-F00E1505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报警保存处置责任；日志按流水号串联采集、图像和算法阶段。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B6B40-8BE3-4509-95F2-CA965CD3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66e85c21d49d4"/>
          <a:stretch xmlns:a="http://schemas.openxmlformats.org/drawingml/2006/main"/>
        </p:blipFill>
        <p:spPr>
          <a:xfrm xmlns:a="http://schemas.openxmlformats.org/drawingml/2006/main">
            <a:off x="821461" y="2286000"/>
            <a:ext cx="4795979" cy="3000375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71609a6b74bc6"/>
          <a:stretch xmlns:a="http://schemas.openxmlformats.org/drawingml/2006/main"/>
        </p:blipFill>
        <p:spPr>
          <a:xfrm xmlns:a="http://schemas.openxmlformats.org/drawingml/2006/main">
            <a:off x="6574561" y="2286000"/>
            <a:ext cx="4795979" cy="3000375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CCBAC-BB43-4F0E-BE38-C9EB097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报警中心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4CD61-1B7E-4B22-AB38-A6C24721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4830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采集算法处理日志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073D3-E367-42B7-94BD-0A2B388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活动 / 历史 / 确认 / 解除 / 来源 / 严重度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74541-8420-4559-9384-5CAC2E3E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912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采集 → 图像 → 算法 → 产物 → 失败原因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4BF9E-D2FF-41B5-925D-290C634F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15209-F479-4603-8921-10BBDB7A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18</a:t>
            </a:r>
          </a:p>
        </p:txBody>
      </p:sp>
    </p:spTree>
    <p:extLst>
      <p:ext uri="{BB962C8B-B14F-4D97-AF65-F5344CB8AC3E}">
        <p14:creationId xmlns:p14="http://schemas.microsoft.com/office/powerpoint/2010/main" val="6899046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9AE37D-7D5E-4C5A-B2D7-7CE5060C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56F2C-9650-4A6D-B0F5-572BA266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数据、合同与追溯：从输入到签发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89C3F-3DD3-4127-8CEA-7CEFBD81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版本化 schema、原子产物和幂等任务把多语言服务组织成可复现链路。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E847E-E650-45FA-8CA7-ADC3D250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8F30A-ACE6-4DF7-BD49-D67596E5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2479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7BF02-2C11-4DEF-AD80-E9CF974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采集 manifest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46E21-F89D-4359-B580-241FF51F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76962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373FD-4805-4A7B-8D09-7212271A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52675"/>
            <a:ext cx="727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相机、轮次、文件哈希、完整度、缺失路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83F21-C5DC-4D88-9351-FE399440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622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7AF15-1576-4644-AD4E-724F34B1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2479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11224-17E7-4E31-9D7C-8BCF6779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image-result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2D26C-23F3-41D9-854D-0E77472D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90850"/>
            <a:ext cx="76962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C4F04-0A4F-42EF-9643-AEEFF085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33725"/>
            <a:ext cx="727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同步、标定、重建、测径、质量原因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13E19-F28D-4E97-AC0C-A6F3BFAF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4330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34832-99BD-4B9B-890F-F7BDD802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2479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566BE-CAB5-49EB-BB5E-34CAA1A8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defect-report v1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61EFD-E33A-409C-9FE9-78BBF176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71900"/>
            <a:ext cx="76962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57E6B-BFBF-4054-AD1D-D903910F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14775"/>
            <a:ext cx="727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候选、来源、模型/规则、严重度与原因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6DF73-41E4-410A-A835-AFAA8CB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243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79DC7-8CB5-4698-B425-46A848F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2479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BB473-BD7C-4A50-81FA-F217E10D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958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业务记录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79CB08-4064-4CE8-B5E7-68FFAD9B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76962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BC3C8B-1EE6-4778-ADD4-4236BCEC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95825"/>
            <a:ext cx="727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材料、任务、缺陷、告警、操作与生产终态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74E64A-62C9-4899-A594-4B3E5A06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0540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5AD1D-41EF-446D-9805-28174ED8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22479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248107-90F6-4582-9D2F-D91CAC9C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报告归档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E3F732-61D6-4163-BD28-4D4137C3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76962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685BA5-BCE2-464C-9976-3DC7B0FF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76875"/>
            <a:ext cx="727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快照、版本、签发身份、哈希、不可变存储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4EA5B-A9CF-486C-AE31-1AF03AEB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229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353802-EE42-4821-9647-D6401E6F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29350"/>
            <a:ext cx="988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数据库成功 ≠ 文件产物成功；目录、catalog、事务和缓存必须联合恢复。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1280DE-5F59-427A-B044-E4772B3C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3EDFF-8821-4A86-A130-748824F3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19</a:t>
            </a:r>
          </a:p>
        </p:txBody>
      </p:sp>
    </p:spTree>
    <p:extLst>
      <p:ext uri="{BB962C8B-B14F-4D97-AF65-F5344CB8AC3E}">
        <p14:creationId xmlns:p14="http://schemas.microsoft.com/office/powerpoint/2010/main" val="20302598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C025F3-3FE3-4705-B780-BAC9FD40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7C08F-9816-454C-B35F-EA548D04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当前验证证据：本机较强，平台与现场仍需分开判断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B1742-AB04-4CCC-8EFE-0A01ED0E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以下结果均为 2026-08-31 当前 HEAD 的直接检查。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A5E08-3B6B-4ED2-BD64-33A33861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44A38-8D57-4EB3-8F97-FCF93415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9197D-534D-4AEB-B681-64FD4DFD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578 / 578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12D76-935A-409F-A269-8C3422A7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前端测试通过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7F0C7-2772-4C75-A812-2E1DDD1F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8600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9626D-A463-4405-9EC6-CD3007C4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19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BUILD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9A4CA-AA55-4A7E-97AB-3621940D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前端生产构建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D8872-1ACD-4E9B-B6E9-2B071FC9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C77D4-D014-4F8C-9D6D-788F1925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376 + 45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7AE5C-DCB8-49BF-88B0-5113B435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14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Rust 服务及核心测试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D0E83-D473-4D7B-A299-9BF2FB4D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90FE5-0AF8-4845-B8D0-39FAAB71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11 / 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2E537-E01C-4231-A447-5E22AB25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Release SBOM 定向检查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85FC2-2E1D-4564-9ECC-E7E3C3E8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数据库 migration 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927F0-404D-4DDF-BC8E-489BC71C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481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13C99-D3A8-49C0-B626-28CC0C88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75D30-D3A6-4097-B954-E080B85E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Tauri CSP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3DB23-F6C9-4D13-93E0-9A5F7A3D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053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237A4B"/>
                </a:solidFill>
                <a:latin typeface="Noto Sans CJK SC"/>
                <a:ea typeface="Noto Sans CJK SC"/>
                <a:cs typeface="Noto Sans CJK SC"/>
              </a:rPr>
              <a:t>EXACT 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0EA03E-2EFB-4E23-866C-BC0C9D74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1C58A-F535-489D-80BC-5B4E2E38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Windows SICK/Python contract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36EBD-44C6-4E2E-89F6-9F81E67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625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440 项：1 fail / 3 skip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E95F94-EE2F-43E9-AD35-C04541A1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36ACC-AEC3-4B56-9919-FF25C059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本机 Python 全套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538E97-935C-4128-A9C9-82B8BF53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环境依赖与 Windows 路径导致结果不完整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AB79A0-DDF3-4390-AA0A-7A5C4BAF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25B95C-84C4-4BF7-9098-374EE3E4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真实后端 / 真实六相机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AC2FF0-40BC-4C0B-9436-3AC7F317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769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live 200；health 503；connected 0/6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3D05D-A033-4BED-89FC-6B5DD21D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90C0F-51BB-4B7A-AA2B-43B459A5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019800"/>
            <a:ext cx="3276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69AD7B-354C-43DA-93F3-7FDDB384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04837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结论：当前 HEAD 不能作为全绿发布基线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6ADE89-3BBB-4D00-ACBC-3800DCFF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92C2E2-346F-4771-88BC-9B7FF902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20</a:t>
            </a:r>
          </a:p>
        </p:txBody>
      </p:sp>
    </p:spTree>
    <p:extLst>
      <p:ext uri="{BB962C8B-B14F-4D97-AF65-F5344CB8AC3E}">
        <p14:creationId xmlns:p14="http://schemas.microsoft.com/office/powerpoint/2010/main" val="21140839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DD0C0-1F4C-4D45-89BA-5F91FF3D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69F5C-F55D-45C2-9F98-35DDCF40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真实后端状态：业务端口可达，但未达到生产就绪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024EE-75EF-4FC1-A0FB-EF0D7801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远端 live=200；aggregate health=503；六相机 connected=0/6，标定恢复、生产策略和触发网关门禁未闭合。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C7BF8-C502-4C70-8712-BEC35C4C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824BB-A272-4242-9741-124E0039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124450" cy="2686050"/>
          </a:xfrm>
          <a:prstGeom xmlns:a="http://schemas.openxmlformats.org/drawingml/2006/main" prst="roundRect">
            <a:avLst>
              <a:gd name="adj" fmla="val 780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560DB-CB08-4AA4-8C0B-5C06458D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77A54-623A-4226-9DB3-21E3A640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真实后端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FF22E-B0F3-4BD6-A293-CCACFD4E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10.50.111.141:4873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B6C80-5128-43C5-8889-C78466AC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live 200 / health 503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F503A-0524-4311-8316-0BFF16BB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01552-D750-4DF9-8C05-35DAD8DE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业务服务可达；providerReady=false，六相机 0/6，recoveryRequired=true。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B8FBD-3F01-412D-816D-37E799E5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5124450" cy="2686050"/>
          </a:xfrm>
          <a:prstGeom xmlns:a="http://schemas.openxmlformats.org/drawingml/2006/main" prst="roundRect">
            <a:avLst>
              <a:gd name="adj" fmla="val 7801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3B951-72FA-4386-BB6A-C0D2F2A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27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4763D-DB76-4503-8998-C603072D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812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本机模拟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EA9A0-9664-4DA9-9CAF-D8A73A2E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127.0.0.1:4873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53CDF-B40D-4F41-8A55-343456FC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004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development + simulated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E1066-1D3C-4C72-B732-64E179E2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6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5D81E-B136-4056-A9C9-73872DBF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672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可用于 UI、API 与业务流程演示，不是现场证明。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8EC34-4FF4-4551-8B76-831EDEC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3D831-43B8-41B7-9483-FC8C724D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就绪判断原则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86704-C7AB-4577-9384-438BDD5F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842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“已连接”只证明 live；生产就绪必须同时满足 aggregate health、六相机、标定、生产策略与 Trigger 门禁。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007ED-91DF-4AF3-B10D-6EF0440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CD22E-FACA-45C8-BFA7-801947F3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21</a:t>
            </a:r>
          </a:p>
        </p:txBody>
      </p:sp>
    </p:spTree>
    <p:extLst>
      <p:ext uri="{BB962C8B-B14F-4D97-AF65-F5344CB8AC3E}">
        <p14:creationId xmlns:p14="http://schemas.microsoft.com/office/powerpoint/2010/main" val="8057007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3F3AD6-1C0C-4101-81E3-3B02AA19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D1B5D-FE57-49CE-B334-3C28BF5F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主要风险与 No-Go 阻塞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20328-7D45-446A-8019-C085142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优先处理会导致错误质量结论、不可恢复或不可追责的问题。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8EDBE-A640-4D60-A52C-8B8BB5A3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16DAA-AD30-4EC4-BCE3-DAAD54F2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07D28-699B-4E76-B200-6D83FA21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P0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BDD7E-801F-4357-BE0A-71C45E2A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28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真实后端未就绪、六相机 0/6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3196C-C366-43AB-A66B-92F3D841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业务端口可达，但采集、标定、生产策略与 Trigger 门禁未闭合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19A64-89B5-4E0A-B5F2-255738E6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现场网络 / 相机 / 采集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A1E5E-5C2F-40E3-B24B-886146F4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4D7AD-4D20-4582-A382-8F54F6A0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48798-8626-43F4-8123-66DC1425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P0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AEA82-46CE-476D-92D4-0096D672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813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算法准入未闭环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12AE3-63D3-468D-97C5-93F806BA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临时模型、冻结数据集与精度证据不足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33DF7-06B0-4DF2-B6EE-156820AA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算法 / 质量 / 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EE06F-391B-4FF9-B451-7265FF49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62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5B670-AA7A-479D-BAE0-88A27734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4225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4AE1C1-D43B-47F4-BC60-083C675E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P0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16EDB-400C-4FDE-993D-CB618E98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签名正式包不存在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AF316-BB08-4ECF-944B-65E804DD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不能正式安装、升级、回滚或追责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01DE9-0F2F-4800-8CCA-78B84B9C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发布 / 安全 / 运维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8748F3-29AA-4D4E-9790-8ECE7B10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C93699-78B6-4A7F-9E14-988E2C3E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6675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6B427-D578-425B-A5E9-8F8B1D30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P1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1FF25D-CF97-4881-BBD5-E189685C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6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Windows CI 仍有 1 项失败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B3C76-C06B-41DE-8FF3-39CCE17D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当前 HEAD 不是绿色发布基线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3713A-6BB2-4950-84AE-55437B2F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86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平台 / 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5551BC-8A86-478E-AB12-41AC0CA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7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353DA-C050-4B1A-9EF6-0C2A10F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68A63A-7906-4711-B8C5-028A6A24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P1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2877B8-B47F-48B5-AF2D-2C2E908B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386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旧审计未在当前 HEAD 复跑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48E70F-63BB-45A8-B62E-4268387E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硬化改动尚无完整退出证据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09934E-BAFF-42F8-BBAA-F9131645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38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架构 / 安全 / QA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F328CF-F77B-4650-9264-8C417B70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9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86E19-3A09-4739-91EB-75AD2D78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7ECDC8-EE60-477D-995A-FE7D1ABE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P1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19AFE8-D8E7-4C11-95B4-4A50B001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恢复与长稳未验收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ABC40A-2D7C-4A1B-8D13-BE8B5FBF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911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断电、磁盘满、强杀、soak 后风险未知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B74395-F490-4E6D-9129-4C16DA46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91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运维 / 数据库 / 服务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76CB58-AA79-4EA9-B36F-3ADA7C04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72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E58A86-24A0-41FE-9164-22DE98CE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4C3F7A-36E3-4DE1-B3EB-3215F31C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P2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D9DAB8-B994-46C3-A7FD-55AB1A7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界面陈旧连接状态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46EA22-3C21-46F2-80E9-E6A5093D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可能误判数据来源和后端可用性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61BD07-D40D-477B-AD2A-684F266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4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前端 / 服务发现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D68E93-647D-404F-889C-106F0CCB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24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9C710D-330A-4B2F-AD18-6A8C556D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8A94A5-30A1-462C-A7FD-8289CB35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22</a:t>
            </a:r>
          </a:p>
        </p:txBody>
      </p:sp>
    </p:spTree>
    <p:extLst>
      <p:ext uri="{BB962C8B-B14F-4D97-AF65-F5344CB8AC3E}">
        <p14:creationId xmlns:p14="http://schemas.microsoft.com/office/powerpoint/2010/main" val="4512001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95C29B-0AAF-47A4-BD68-6DE60B0F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A61A5-936B-4D42-A25D-2F5CBEFE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建议推进路线：五阶段、每阶段有退出门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D6EDB-4E5C-43DE-AB79-B3177483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先封口工程基线，再恢复现场、完成算法与业务 FAT，最后做目标机运维和正式发布。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78689-DF4D-4652-81FB-25D2AFE3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A6A54-2A81-4F0C-BC77-399C1EBB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0458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74663-794D-4EBF-946D-73E6D3FE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751A6-99E6-4511-8746-900C3208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86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27109-7A4D-49E0-999E-D75DBD5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基线封口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245D7-7BDF-4EC5-8C35-BE5EAD18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80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修 Windows 路径失败</a:t>
            </a:r>
          </a:p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提交 intended scripts</a:t>
            </a:r>
          </a:p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当前 HEAD 全绿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BA641-B292-43C2-964E-89989D70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DAF47-FFF3-4E93-9623-B9CFDA4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86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DB282-D44F-4EF1-A8A8-0E9096A4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95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现场只读诊断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4D8EA-E99E-4326-913C-29BCD1BD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14800"/>
            <a:ext cx="180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10.50.111.141 health 503</a:t>
            </a:r>
          </a:p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标定恢复 / CTI / 6 路身份</a:t>
            </a:r>
          </a:p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先存证据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15E6F-B046-4206-996A-8F887FCD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99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694CC-1A5A-4647-B3D1-0B76E572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86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68796-8400-4B11-A6DA-B932D3B8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95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受控采集与标定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E2881-6275-4659-A343-B0ECBFEC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14800"/>
            <a:ext cx="180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连续取帧 / 同步</a:t>
            </a:r>
          </a:p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存储 / 编码器 / 标准件</a:t>
            </a:r>
          </a:p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混合缺失 fail-closed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28AD3-7670-4772-A0EB-AD753E75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62634-7FE3-4830-A341-258391A4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B4A80-52C5-41A9-A04A-62249F13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算法准入与 FAT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783F6-A8BA-483D-BC10-64B5675C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180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冻结数据集 / 模型</a:t>
            </a:r>
          </a:p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precision / recall</a:t>
            </a:r>
          </a:p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测径误差 / 报告归档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4E2F8-C207-4BCB-A7CC-0BE0C575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099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7C3EE-E9C4-43BE-902F-11728591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86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C3FAC-7869-41E7-A8E6-E64BEF90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95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运维与正式发布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E4739-AB8A-4684-BBA9-D222C39C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180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SCM / ACL / 恢复 / soak</a:t>
            </a:r>
          </a:p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签名 MSI/NSIS/catalog</a:t>
            </a:r>
          </a:p>
          <a:p xmlns:a="http://schemas.openxmlformats.org/drawingml/2006/main">
            <a:pPr algn="ctr">
              <a:def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344054"/>
                </a:solidFill>
                <a:latin typeface="Noto Sans CJK SC"/>
                <a:ea typeface="Noto Sans CJK SC"/>
                <a:cs typeface="Noto Sans CJK SC"/>
              </a:rPr>
              <a:t>升级回滚与目标机验收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1BFF2-8F73-440F-AE2B-6D86EEE3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BC8CA-60D4-41EB-AF7D-C99D97E3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阶段原则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1D8F02-5728-4AE6-96D3-8718646C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29275"/>
            <a:ext cx="941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每阶段只在证据可复现、负责人签字、退出条件满足后进入下一阶段；模拟结果不升级为现场结论。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1C7A86-02A6-4B52-8B36-30C929D0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D7842-400F-4DE2-AD0A-337890C9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23</a:t>
            </a:r>
          </a:p>
        </p:txBody>
      </p:sp>
    </p:spTree>
    <p:extLst>
      <p:ext uri="{BB962C8B-B14F-4D97-AF65-F5344CB8AC3E}">
        <p14:creationId xmlns:p14="http://schemas.microsoft.com/office/powerpoint/2010/main" val="18198977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7B893-51CB-4D4B-8DA0-78FB2060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汇报收束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A1022-37D9-4A0A-89FB-F0A544DD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下一步不是继续堆功能，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DB55B-A47D-4A49-834D-2BF12B56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0B2545"/>
                </a:solidFill>
                <a:latin typeface="Noto Sans CJK SC"/>
                <a:ea typeface="Noto Sans CJK SC"/>
                <a:cs typeface="Noto Sans CJK SC"/>
              </a:rPr>
              <a:t>而是把当前能力变成可复现、可验收、可追责的生产基线。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863D6-255A-45F1-9F82-DBA3A6C0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98983-A935-4168-88E4-AF799454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2E74B5"/>
                </a:solidFill>
                <a:latin typeface="Noto Sans CJK SC"/>
                <a:ea typeface="Noto Sans CJK SC"/>
                <a:cs typeface="Noto Sans CJK SC"/>
              </a:rPr>
              <a:t>决策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C17D1-137B-411A-9D57-B3656B54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14700"/>
            <a:ext cx="944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确定 Windows CI 与安全/计量复审的封口负责人和完成时间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80008-FC83-4FB9-BF0F-EC086104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0"/>
            <a:ext cx="944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9AFCA-95B6-41B2-A50A-D7E5515D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A26D3-4FB0-463E-B958-ED654C0F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AA7C8"/>
                </a:solidFill>
                <a:latin typeface="Noto Sans CJK SC"/>
                <a:ea typeface="Noto Sans CJK SC"/>
                <a:cs typeface="Noto Sans CJK SC"/>
              </a:rPr>
              <a:t>决策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D4FA3-27BE-4F26-8532-EC8D976F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95750"/>
            <a:ext cx="944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安排 10.50.111.141 的标定恢复、六相机诊断与受控采集窗口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5F486-3B76-4810-A548-E5428931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944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FD350-82AA-4D14-978C-D3EEFA18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07D05-B0C9-4419-BD69-A6F46B13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A86F00"/>
                </a:solidFill>
                <a:latin typeface="Noto Sans CJK SC"/>
                <a:ea typeface="Noto Sans CJK SC"/>
                <a:cs typeface="Noto Sans CJK SC"/>
              </a:rPr>
              <a:t>决策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6D7B4-8C81-4CA3-82A7-9FF36A1C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76800"/>
            <a:ext cx="944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E293B"/>
                </a:solidFill>
                <a:latin typeface="Noto Sans CJK SC"/>
                <a:ea typeface="Noto Sans CJK SC"/>
                <a:cs typeface="Noto Sans CJK SC"/>
              </a:rPr>
              <a:t>明确算法准入、业务 FAT、签名发布和目标机运维的最终责任矩阵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B1E1B-8AC7-4382-95D6-67779376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72100"/>
            <a:ext cx="944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EB1ED-AA1B-4AFE-A3E2-FBE5F16B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42318"/>
                </a:solidFill>
                <a:latin typeface="Noto Sans CJK SC"/>
                <a:ea typeface="Noto Sans CJK SC"/>
                <a:cs typeface="Noto Sans CJK SC"/>
              </a:rPr>
              <a:t>当前建议：继续内部联调和工程验证；在 Go/No-Go 退出条件满足前，不对外称为正式上线或生产质量系统。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B0DDB-3483-454B-9DEA-D24BC3A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北满特钢小棒三维检测系统  ·  INTERNAL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75897-DAFD-47B8-BDDD-9F21B485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5532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667085"/>
                </a:solidFill>
                <a:latin typeface="Noto Sans CJK SC"/>
                <a:ea typeface="Noto Sans CJK SC"/>
                <a:cs typeface="Noto Sans CJK SC"/>
              </a:rPr>
              <a:t>5b30605  ·  2026-08-31  ·  24</a:t>
            </a:r>
          </a:p>
        </p:txBody>
      </p:sp>
    </p:spTree>
    <p:extLst>
      <p:ext uri="{BB962C8B-B14F-4D97-AF65-F5344CB8AC3E}">
        <p14:creationId xmlns:p14="http://schemas.microsoft.com/office/powerpoint/2010/main" val="1184997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2026-08-31T06:21:42.0720000Z</dcterms:created>
  <dcterms:modified xsi:type="dcterms:W3CDTF">2026-08-31T06:21:42.0720000Z</dcterms:modified>
</coreProperties>
</file>